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Open Sauce" panose="020B0604020202020204" charset="-18"/>
      <p:regular r:id="rId12"/>
    </p:embeddedFont>
    <p:embeddedFont>
      <p:font typeface="Open Sauce Bold" panose="020B0604020202020204" charset="-18"/>
      <p:regular r:id="rId13"/>
    </p:embeddedFont>
    <p:embeddedFont>
      <p:font typeface="Open Sauce Italics" panose="020B0604020202020204" charset="-18"/>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24859" y="4089260"/>
            <a:ext cx="8147454" cy="3377337"/>
            <a:chOff x="0" y="0"/>
            <a:chExt cx="1469584" cy="609182"/>
          </a:xfrm>
        </p:grpSpPr>
        <p:sp>
          <p:nvSpPr>
            <p:cNvPr id="3" name="Freeform 3"/>
            <p:cNvSpPr/>
            <p:nvPr/>
          </p:nvSpPr>
          <p:spPr>
            <a:xfrm>
              <a:off x="0" y="0"/>
              <a:ext cx="1469584" cy="609182"/>
            </a:xfrm>
            <a:custGeom>
              <a:avLst/>
              <a:gdLst/>
              <a:ahLst/>
              <a:cxnLst/>
              <a:rect l="l" t="t" r="r" b="b"/>
              <a:pathLst>
                <a:path w="1469584" h="609182">
                  <a:moveTo>
                    <a:pt x="19005" y="0"/>
                  </a:moveTo>
                  <a:lnTo>
                    <a:pt x="1450579" y="0"/>
                  </a:lnTo>
                  <a:cubicBezTo>
                    <a:pt x="1455620" y="0"/>
                    <a:pt x="1460454" y="2002"/>
                    <a:pt x="1464018" y="5566"/>
                  </a:cubicBezTo>
                  <a:cubicBezTo>
                    <a:pt x="1467582" y="9130"/>
                    <a:pt x="1469584" y="13964"/>
                    <a:pt x="1469584" y="19005"/>
                  </a:cubicBezTo>
                  <a:lnTo>
                    <a:pt x="1469584" y="590177"/>
                  </a:lnTo>
                  <a:cubicBezTo>
                    <a:pt x="1469584" y="595217"/>
                    <a:pt x="1467582" y="600051"/>
                    <a:pt x="1464018" y="603615"/>
                  </a:cubicBezTo>
                  <a:cubicBezTo>
                    <a:pt x="1460454" y="607179"/>
                    <a:pt x="1455620" y="609182"/>
                    <a:pt x="1450579" y="609182"/>
                  </a:cubicBezTo>
                  <a:lnTo>
                    <a:pt x="19005" y="609182"/>
                  </a:lnTo>
                  <a:cubicBezTo>
                    <a:pt x="13964" y="609182"/>
                    <a:pt x="9130" y="607179"/>
                    <a:pt x="5566" y="603615"/>
                  </a:cubicBezTo>
                  <a:cubicBezTo>
                    <a:pt x="2002" y="600051"/>
                    <a:pt x="0" y="595217"/>
                    <a:pt x="0" y="590177"/>
                  </a:cubicBezTo>
                  <a:lnTo>
                    <a:pt x="0" y="19005"/>
                  </a:lnTo>
                  <a:cubicBezTo>
                    <a:pt x="0" y="13964"/>
                    <a:pt x="2002" y="9130"/>
                    <a:pt x="5566" y="5566"/>
                  </a:cubicBezTo>
                  <a:cubicBezTo>
                    <a:pt x="9130" y="2002"/>
                    <a:pt x="13964" y="0"/>
                    <a:pt x="19005" y="0"/>
                  </a:cubicBezTo>
                  <a:close/>
                </a:path>
              </a:pathLst>
            </a:custGeom>
            <a:blipFill>
              <a:blip r:embed="rId2"/>
              <a:stretch>
                <a:fillRect t="-60423"/>
              </a:stretch>
            </a:blipFill>
          </p:spPr>
        </p:sp>
      </p:grpSp>
      <p:grpSp>
        <p:nvGrpSpPr>
          <p:cNvPr id="4" name="Group 4"/>
          <p:cNvGrpSpPr/>
          <p:nvPr/>
        </p:nvGrpSpPr>
        <p:grpSpPr>
          <a:xfrm>
            <a:off x="10454908" y="4102461"/>
            <a:ext cx="5601128" cy="3377337"/>
            <a:chOff x="0" y="0"/>
            <a:chExt cx="1010294" cy="609182"/>
          </a:xfrm>
        </p:grpSpPr>
        <p:sp>
          <p:nvSpPr>
            <p:cNvPr id="5" name="Freeform 5"/>
            <p:cNvSpPr/>
            <p:nvPr/>
          </p:nvSpPr>
          <p:spPr>
            <a:xfrm>
              <a:off x="0" y="0"/>
              <a:ext cx="1010294" cy="609182"/>
            </a:xfrm>
            <a:custGeom>
              <a:avLst/>
              <a:gdLst/>
              <a:ahLst/>
              <a:cxnLst/>
              <a:rect l="l" t="t" r="r" b="b"/>
              <a:pathLst>
                <a:path w="1010294" h="609182">
                  <a:moveTo>
                    <a:pt x="27644" y="0"/>
                  </a:moveTo>
                  <a:lnTo>
                    <a:pt x="982650" y="0"/>
                  </a:lnTo>
                  <a:cubicBezTo>
                    <a:pt x="989982" y="0"/>
                    <a:pt x="997013" y="2912"/>
                    <a:pt x="1002198" y="8097"/>
                  </a:cubicBezTo>
                  <a:cubicBezTo>
                    <a:pt x="1007382" y="13281"/>
                    <a:pt x="1010294" y="20312"/>
                    <a:pt x="1010294" y="27644"/>
                  </a:cubicBezTo>
                  <a:lnTo>
                    <a:pt x="1010294" y="581538"/>
                  </a:lnTo>
                  <a:cubicBezTo>
                    <a:pt x="1010294" y="588869"/>
                    <a:pt x="1007382" y="595901"/>
                    <a:pt x="1002198" y="601085"/>
                  </a:cubicBezTo>
                  <a:cubicBezTo>
                    <a:pt x="997013" y="606269"/>
                    <a:pt x="989982" y="609182"/>
                    <a:pt x="982650" y="609182"/>
                  </a:cubicBezTo>
                  <a:lnTo>
                    <a:pt x="27644" y="609182"/>
                  </a:lnTo>
                  <a:cubicBezTo>
                    <a:pt x="20312" y="609182"/>
                    <a:pt x="13281" y="606269"/>
                    <a:pt x="8097" y="601085"/>
                  </a:cubicBezTo>
                  <a:cubicBezTo>
                    <a:pt x="2912" y="595901"/>
                    <a:pt x="0" y="588869"/>
                    <a:pt x="0" y="581538"/>
                  </a:cubicBezTo>
                  <a:lnTo>
                    <a:pt x="0" y="27644"/>
                  </a:lnTo>
                  <a:cubicBezTo>
                    <a:pt x="0" y="20312"/>
                    <a:pt x="2912" y="13281"/>
                    <a:pt x="8097" y="8097"/>
                  </a:cubicBezTo>
                  <a:cubicBezTo>
                    <a:pt x="13281" y="2912"/>
                    <a:pt x="20312" y="0"/>
                    <a:pt x="27644" y="0"/>
                  </a:cubicBezTo>
                  <a:close/>
                </a:path>
              </a:pathLst>
            </a:custGeom>
            <a:blipFill>
              <a:blip r:embed="rId3"/>
              <a:stretch>
                <a:fillRect t="-53652" b="-53652"/>
              </a:stretch>
            </a:blipFill>
          </p:spPr>
        </p:sp>
      </p:grpSp>
      <p:sp>
        <p:nvSpPr>
          <p:cNvPr id="6" name="Freeform 6"/>
          <p:cNvSpPr/>
          <p:nvPr/>
        </p:nvSpPr>
        <p:spPr>
          <a:xfrm>
            <a:off x="542586" y="382423"/>
            <a:ext cx="3730122" cy="860212"/>
          </a:xfrm>
          <a:custGeom>
            <a:avLst/>
            <a:gdLst/>
            <a:ahLst/>
            <a:cxnLst/>
            <a:rect l="l" t="t" r="r" b="b"/>
            <a:pathLst>
              <a:path w="3730122" h="860212">
                <a:moveTo>
                  <a:pt x="0" y="0"/>
                </a:moveTo>
                <a:lnTo>
                  <a:pt x="3730122" y="0"/>
                </a:lnTo>
                <a:lnTo>
                  <a:pt x="3730122" y="860211"/>
                </a:lnTo>
                <a:lnTo>
                  <a:pt x="0" y="860211"/>
                </a:lnTo>
                <a:lnTo>
                  <a:pt x="0" y="0"/>
                </a:lnTo>
                <a:close/>
              </a:path>
            </a:pathLst>
          </a:custGeom>
          <a:blipFill>
            <a:blip r:embed="rId4"/>
            <a:stretch>
              <a:fillRect/>
            </a:stretch>
          </a:blipFill>
        </p:spPr>
      </p:sp>
      <p:sp>
        <p:nvSpPr>
          <p:cNvPr id="7" name="TextBox 7"/>
          <p:cNvSpPr txBox="1"/>
          <p:nvPr/>
        </p:nvSpPr>
        <p:spPr>
          <a:xfrm>
            <a:off x="4221781" y="1604893"/>
            <a:ext cx="9844437" cy="1833107"/>
          </a:xfrm>
          <a:prstGeom prst="rect">
            <a:avLst/>
          </a:prstGeom>
        </p:spPr>
        <p:txBody>
          <a:bodyPr lIns="0" tIns="0" rIns="0" bIns="0" rtlCol="0" anchor="t">
            <a:spAutoFit/>
          </a:bodyPr>
          <a:lstStyle/>
          <a:p>
            <a:pPr algn="ctr">
              <a:lnSpc>
                <a:spcPts val="7396"/>
              </a:lnSpc>
              <a:spcBef>
                <a:spcPct val="0"/>
              </a:spcBef>
            </a:pPr>
            <a:r>
              <a:rPr lang="en-US" sz="5283" spc="-422">
                <a:solidFill>
                  <a:srgbClr val="111111"/>
                </a:solidFill>
                <a:latin typeface="Open Sauce"/>
                <a:ea typeface="Open Sauce"/>
                <a:cs typeface="Open Sauce"/>
                <a:sym typeface="Open Sauce"/>
              </a:rPr>
              <a:t>Evoluția poluării aerului (PM2.5) la nivel global în perioada 1990–2020</a:t>
            </a:r>
          </a:p>
        </p:txBody>
      </p:sp>
      <p:sp>
        <p:nvSpPr>
          <p:cNvPr id="8" name="TextBox 8"/>
          <p:cNvSpPr txBox="1"/>
          <p:nvPr/>
        </p:nvSpPr>
        <p:spPr>
          <a:xfrm>
            <a:off x="5563200" y="8096633"/>
            <a:ext cx="7161599" cy="2394310"/>
          </a:xfrm>
          <a:prstGeom prst="rect">
            <a:avLst/>
          </a:prstGeom>
        </p:spPr>
        <p:txBody>
          <a:bodyPr lIns="0" tIns="0" rIns="0" bIns="0" rtlCol="0" anchor="t">
            <a:spAutoFit/>
          </a:bodyPr>
          <a:lstStyle/>
          <a:p>
            <a:pPr algn="ctr">
              <a:lnSpc>
                <a:spcPts val="3779"/>
              </a:lnSpc>
            </a:pPr>
            <a:r>
              <a:rPr lang="en-US" sz="2699" i="1" spc="-134" dirty="0" err="1">
                <a:solidFill>
                  <a:srgbClr val="111111"/>
                </a:solidFill>
                <a:latin typeface="Open Sauce Italics"/>
                <a:ea typeface="Open Sauce Italics"/>
                <a:cs typeface="Open Sauce Italics"/>
                <a:sym typeface="Open Sauce Italics"/>
              </a:rPr>
              <a:t>Studenţi</a:t>
            </a:r>
            <a:r>
              <a:rPr lang="en-US" sz="2699" i="1" spc="-134" dirty="0">
                <a:solidFill>
                  <a:srgbClr val="111111"/>
                </a:solidFill>
                <a:latin typeface="Open Sauce Italics"/>
                <a:ea typeface="Open Sauce Italics"/>
                <a:cs typeface="Open Sauce Italics"/>
                <a:sym typeface="Open Sauce Italics"/>
              </a:rPr>
              <a:t>: </a:t>
            </a:r>
          </a:p>
          <a:p>
            <a:pPr algn="ctr">
              <a:lnSpc>
                <a:spcPts val="3779"/>
              </a:lnSpc>
            </a:pPr>
            <a:r>
              <a:rPr lang="en-US" sz="2699" i="1" spc="-134" dirty="0">
                <a:solidFill>
                  <a:srgbClr val="111111"/>
                </a:solidFill>
                <a:latin typeface="Open Sauce Italics"/>
                <a:ea typeface="Open Sauce Italics"/>
                <a:cs typeface="Open Sauce Italics"/>
                <a:sym typeface="Open Sauce Italics"/>
              </a:rPr>
              <a:t>Constantin Teodor - Vasile</a:t>
            </a:r>
          </a:p>
          <a:p>
            <a:pPr algn="ctr">
              <a:lnSpc>
                <a:spcPts val="3779"/>
              </a:lnSpc>
            </a:pPr>
            <a:r>
              <a:rPr lang="en-US" sz="2699" i="1" spc="-134" dirty="0">
                <a:solidFill>
                  <a:srgbClr val="111111"/>
                </a:solidFill>
                <a:latin typeface="Open Sauce Italics"/>
                <a:ea typeface="Open Sauce Italics"/>
                <a:cs typeface="Open Sauce Italics"/>
                <a:sym typeface="Open Sauce Italics"/>
              </a:rPr>
              <a:t>Erhan Teodora - Miruna</a:t>
            </a:r>
          </a:p>
          <a:p>
            <a:pPr algn="ctr">
              <a:lnSpc>
                <a:spcPts val="3779"/>
              </a:lnSpc>
            </a:pPr>
            <a:r>
              <a:rPr lang="en-US" sz="2699" i="1" spc="-134" dirty="0">
                <a:solidFill>
                  <a:srgbClr val="111111"/>
                </a:solidFill>
                <a:latin typeface="Open Sauce Italics"/>
                <a:ea typeface="Open Sauce Italics"/>
                <a:cs typeface="Open Sauce Italics"/>
                <a:sym typeface="Open Sauce Italics"/>
              </a:rPr>
              <a:t>Niţu Vlad - Cristian</a:t>
            </a:r>
          </a:p>
          <a:p>
            <a:pPr algn="ctr">
              <a:lnSpc>
                <a:spcPts val="3779"/>
              </a:lnSpc>
              <a:spcBef>
                <a:spcPct val="0"/>
              </a:spcBef>
            </a:pPr>
            <a:endParaRPr lang="en-US" sz="2699" i="1" spc="-134" dirty="0">
              <a:solidFill>
                <a:srgbClr val="111111"/>
              </a:solidFill>
              <a:latin typeface="Open Sauce Italics"/>
              <a:ea typeface="Open Sauce Italics"/>
              <a:cs typeface="Open Sauce Italics"/>
              <a:sym typeface="Open Sauce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grpSp>
        <p:nvGrpSpPr>
          <p:cNvPr id="2" name="Group 2"/>
          <p:cNvGrpSpPr/>
          <p:nvPr/>
        </p:nvGrpSpPr>
        <p:grpSpPr>
          <a:xfrm>
            <a:off x="9144000" y="1211985"/>
            <a:ext cx="8115300" cy="5104906"/>
            <a:chOff x="0" y="0"/>
            <a:chExt cx="1463784" cy="920789"/>
          </a:xfrm>
        </p:grpSpPr>
        <p:sp>
          <p:nvSpPr>
            <p:cNvPr id="3" name="Freeform 3"/>
            <p:cNvSpPr/>
            <p:nvPr/>
          </p:nvSpPr>
          <p:spPr>
            <a:xfrm>
              <a:off x="0" y="0"/>
              <a:ext cx="1463784" cy="920789"/>
            </a:xfrm>
            <a:custGeom>
              <a:avLst/>
              <a:gdLst/>
              <a:ahLst/>
              <a:cxnLst/>
              <a:rect l="l" t="t" r="r" b="b"/>
              <a:pathLst>
                <a:path w="1463784" h="920789">
                  <a:moveTo>
                    <a:pt x="19080" y="0"/>
                  </a:moveTo>
                  <a:lnTo>
                    <a:pt x="1444704" y="0"/>
                  </a:lnTo>
                  <a:cubicBezTo>
                    <a:pt x="1449765" y="0"/>
                    <a:pt x="1454618" y="2010"/>
                    <a:pt x="1458196" y="5588"/>
                  </a:cubicBezTo>
                  <a:cubicBezTo>
                    <a:pt x="1461774" y="9167"/>
                    <a:pt x="1463784" y="14020"/>
                    <a:pt x="1463784" y="19080"/>
                  </a:cubicBezTo>
                  <a:lnTo>
                    <a:pt x="1463784" y="901709"/>
                  </a:lnTo>
                  <a:cubicBezTo>
                    <a:pt x="1463784" y="906770"/>
                    <a:pt x="1461774" y="911623"/>
                    <a:pt x="1458196" y="915201"/>
                  </a:cubicBezTo>
                  <a:cubicBezTo>
                    <a:pt x="1454618" y="918779"/>
                    <a:pt x="1449765" y="920789"/>
                    <a:pt x="1444704" y="920789"/>
                  </a:cubicBezTo>
                  <a:lnTo>
                    <a:pt x="19080" y="920789"/>
                  </a:lnTo>
                  <a:cubicBezTo>
                    <a:pt x="8542" y="920789"/>
                    <a:pt x="0" y="912247"/>
                    <a:pt x="0" y="901709"/>
                  </a:cubicBezTo>
                  <a:lnTo>
                    <a:pt x="0" y="19080"/>
                  </a:lnTo>
                  <a:cubicBezTo>
                    <a:pt x="0" y="8542"/>
                    <a:pt x="8542" y="0"/>
                    <a:pt x="19080" y="0"/>
                  </a:cubicBezTo>
                  <a:close/>
                </a:path>
              </a:pathLst>
            </a:custGeom>
            <a:blipFill>
              <a:blip r:embed="rId2"/>
              <a:stretch>
                <a:fillRect t="-2957" b="-2957"/>
              </a:stretch>
            </a:blipFill>
          </p:spPr>
        </p:sp>
      </p:grpSp>
      <p:grpSp>
        <p:nvGrpSpPr>
          <p:cNvPr id="4" name="Group 4"/>
          <p:cNvGrpSpPr/>
          <p:nvPr/>
        </p:nvGrpSpPr>
        <p:grpSpPr>
          <a:xfrm>
            <a:off x="13246341" y="6692742"/>
            <a:ext cx="4012959" cy="2777166"/>
            <a:chOff x="0" y="0"/>
            <a:chExt cx="723831" cy="500927"/>
          </a:xfrm>
        </p:grpSpPr>
        <p:sp>
          <p:nvSpPr>
            <p:cNvPr id="5" name="Freeform 5"/>
            <p:cNvSpPr/>
            <p:nvPr/>
          </p:nvSpPr>
          <p:spPr>
            <a:xfrm>
              <a:off x="0" y="0"/>
              <a:ext cx="723831" cy="500927"/>
            </a:xfrm>
            <a:custGeom>
              <a:avLst/>
              <a:gdLst/>
              <a:ahLst/>
              <a:cxnLst/>
              <a:rect l="l" t="t" r="r" b="b"/>
              <a:pathLst>
                <a:path w="723831" h="500927">
                  <a:moveTo>
                    <a:pt x="38585" y="0"/>
                  </a:moveTo>
                  <a:lnTo>
                    <a:pt x="685246" y="0"/>
                  </a:lnTo>
                  <a:cubicBezTo>
                    <a:pt x="706556" y="0"/>
                    <a:pt x="723831" y="17275"/>
                    <a:pt x="723831" y="38585"/>
                  </a:cubicBezTo>
                  <a:lnTo>
                    <a:pt x="723831" y="462342"/>
                  </a:lnTo>
                  <a:cubicBezTo>
                    <a:pt x="723831" y="483652"/>
                    <a:pt x="706556" y="500927"/>
                    <a:pt x="685246" y="500927"/>
                  </a:cubicBezTo>
                  <a:lnTo>
                    <a:pt x="38585" y="500927"/>
                  </a:lnTo>
                  <a:cubicBezTo>
                    <a:pt x="17275" y="500927"/>
                    <a:pt x="0" y="483652"/>
                    <a:pt x="0" y="462342"/>
                  </a:cubicBezTo>
                  <a:lnTo>
                    <a:pt x="0" y="38585"/>
                  </a:lnTo>
                  <a:cubicBezTo>
                    <a:pt x="0" y="17275"/>
                    <a:pt x="17275" y="0"/>
                    <a:pt x="38585" y="0"/>
                  </a:cubicBezTo>
                  <a:close/>
                </a:path>
              </a:pathLst>
            </a:custGeom>
            <a:blipFill>
              <a:blip r:embed="rId3"/>
              <a:stretch>
                <a:fillRect l="-1936" r="-1936"/>
              </a:stretch>
            </a:blipFill>
          </p:spPr>
        </p:sp>
      </p:grpSp>
      <p:grpSp>
        <p:nvGrpSpPr>
          <p:cNvPr id="6" name="Group 6"/>
          <p:cNvGrpSpPr/>
          <p:nvPr/>
        </p:nvGrpSpPr>
        <p:grpSpPr>
          <a:xfrm>
            <a:off x="9143453" y="6678455"/>
            <a:ext cx="3707797" cy="2777166"/>
            <a:chOff x="0" y="0"/>
            <a:chExt cx="668788" cy="500927"/>
          </a:xfrm>
        </p:grpSpPr>
        <p:sp>
          <p:nvSpPr>
            <p:cNvPr id="7" name="Freeform 7"/>
            <p:cNvSpPr/>
            <p:nvPr/>
          </p:nvSpPr>
          <p:spPr>
            <a:xfrm>
              <a:off x="0" y="0"/>
              <a:ext cx="668788" cy="500927"/>
            </a:xfrm>
            <a:custGeom>
              <a:avLst/>
              <a:gdLst/>
              <a:ahLst/>
              <a:cxnLst/>
              <a:rect l="l" t="t" r="r" b="b"/>
              <a:pathLst>
                <a:path w="668788" h="500927">
                  <a:moveTo>
                    <a:pt x="41760" y="0"/>
                  </a:moveTo>
                  <a:lnTo>
                    <a:pt x="627028" y="0"/>
                  </a:lnTo>
                  <a:cubicBezTo>
                    <a:pt x="638103" y="0"/>
                    <a:pt x="648725" y="4400"/>
                    <a:pt x="656557" y="12231"/>
                  </a:cubicBezTo>
                  <a:cubicBezTo>
                    <a:pt x="664388" y="20063"/>
                    <a:pt x="668788" y="30685"/>
                    <a:pt x="668788" y="41760"/>
                  </a:cubicBezTo>
                  <a:lnTo>
                    <a:pt x="668788" y="459167"/>
                  </a:lnTo>
                  <a:cubicBezTo>
                    <a:pt x="668788" y="470242"/>
                    <a:pt x="664388" y="480864"/>
                    <a:pt x="656557" y="488696"/>
                  </a:cubicBezTo>
                  <a:cubicBezTo>
                    <a:pt x="648725" y="496527"/>
                    <a:pt x="638103" y="500927"/>
                    <a:pt x="627028" y="500927"/>
                  </a:cubicBezTo>
                  <a:lnTo>
                    <a:pt x="41760" y="500927"/>
                  </a:lnTo>
                  <a:cubicBezTo>
                    <a:pt x="18697" y="500927"/>
                    <a:pt x="0" y="482230"/>
                    <a:pt x="0" y="459167"/>
                  </a:cubicBezTo>
                  <a:lnTo>
                    <a:pt x="0" y="41760"/>
                  </a:lnTo>
                  <a:cubicBezTo>
                    <a:pt x="0" y="30685"/>
                    <a:pt x="4400" y="20063"/>
                    <a:pt x="12231" y="12231"/>
                  </a:cubicBezTo>
                  <a:cubicBezTo>
                    <a:pt x="20063" y="4400"/>
                    <a:pt x="30685" y="0"/>
                    <a:pt x="41760" y="0"/>
                  </a:cubicBezTo>
                  <a:close/>
                </a:path>
              </a:pathLst>
            </a:custGeom>
            <a:blipFill>
              <a:blip r:embed="rId4"/>
              <a:stretch>
                <a:fillRect l="-6210" r="-6210"/>
              </a:stretch>
            </a:blipFill>
          </p:spPr>
        </p:sp>
      </p:grpSp>
      <p:grpSp>
        <p:nvGrpSpPr>
          <p:cNvPr id="8" name="Group 8"/>
          <p:cNvGrpSpPr/>
          <p:nvPr/>
        </p:nvGrpSpPr>
        <p:grpSpPr>
          <a:xfrm>
            <a:off x="589912" y="3167933"/>
            <a:ext cx="8163563" cy="6626401"/>
            <a:chOff x="0" y="0"/>
            <a:chExt cx="2150074" cy="1745225"/>
          </a:xfrm>
        </p:grpSpPr>
        <p:sp>
          <p:nvSpPr>
            <p:cNvPr id="9" name="Freeform 9"/>
            <p:cNvSpPr/>
            <p:nvPr/>
          </p:nvSpPr>
          <p:spPr>
            <a:xfrm>
              <a:off x="0" y="0"/>
              <a:ext cx="2150074" cy="1745225"/>
            </a:xfrm>
            <a:custGeom>
              <a:avLst/>
              <a:gdLst/>
              <a:ahLst/>
              <a:cxnLst/>
              <a:rect l="l" t="t" r="r" b="b"/>
              <a:pathLst>
                <a:path w="2150074" h="1745225">
                  <a:moveTo>
                    <a:pt x="23709" y="0"/>
                  </a:moveTo>
                  <a:lnTo>
                    <a:pt x="2126365" y="0"/>
                  </a:lnTo>
                  <a:cubicBezTo>
                    <a:pt x="2132653" y="0"/>
                    <a:pt x="2138684" y="2498"/>
                    <a:pt x="2143130" y="6944"/>
                  </a:cubicBezTo>
                  <a:cubicBezTo>
                    <a:pt x="2147576" y="11390"/>
                    <a:pt x="2150074" y="17421"/>
                    <a:pt x="2150074" y="23709"/>
                  </a:cubicBezTo>
                  <a:lnTo>
                    <a:pt x="2150074" y="1721516"/>
                  </a:lnTo>
                  <a:cubicBezTo>
                    <a:pt x="2150074" y="1734610"/>
                    <a:pt x="2139459" y="1745225"/>
                    <a:pt x="2126365" y="1745225"/>
                  </a:cubicBezTo>
                  <a:lnTo>
                    <a:pt x="23709" y="1745225"/>
                  </a:lnTo>
                  <a:cubicBezTo>
                    <a:pt x="10615" y="1745225"/>
                    <a:pt x="0" y="1734610"/>
                    <a:pt x="0" y="1721516"/>
                  </a:cubicBezTo>
                  <a:lnTo>
                    <a:pt x="0" y="23709"/>
                  </a:lnTo>
                  <a:cubicBezTo>
                    <a:pt x="0" y="10615"/>
                    <a:pt x="10615" y="0"/>
                    <a:pt x="23709" y="0"/>
                  </a:cubicBezTo>
                  <a:close/>
                </a:path>
              </a:pathLst>
            </a:custGeom>
            <a:solidFill>
              <a:srgbClr val="4B3C3D"/>
            </a:solidFill>
          </p:spPr>
        </p:sp>
        <p:sp>
          <p:nvSpPr>
            <p:cNvPr id="10" name="TextBox 10"/>
            <p:cNvSpPr txBox="1"/>
            <p:nvPr/>
          </p:nvSpPr>
          <p:spPr>
            <a:xfrm>
              <a:off x="0" y="-28575"/>
              <a:ext cx="2150074" cy="1773800"/>
            </a:xfrm>
            <a:prstGeom prst="rect">
              <a:avLst/>
            </a:prstGeom>
          </p:spPr>
          <p:txBody>
            <a:bodyPr lIns="50800" tIns="50800" rIns="50800" bIns="50800" rtlCol="0" anchor="ctr"/>
            <a:lstStyle/>
            <a:p>
              <a:pPr algn="just">
                <a:lnSpc>
                  <a:spcPts val="1960"/>
                </a:lnSpc>
              </a:pPr>
              <a:endParaRPr/>
            </a:p>
          </p:txBody>
        </p:sp>
      </p:grpSp>
      <p:sp>
        <p:nvSpPr>
          <p:cNvPr id="11" name="TextBox 11"/>
          <p:cNvSpPr txBox="1"/>
          <p:nvPr/>
        </p:nvSpPr>
        <p:spPr>
          <a:xfrm>
            <a:off x="726703" y="933450"/>
            <a:ext cx="9226793" cy="1666374"/>
          </a:xfrm>
          <a:prstGeom prst="rect">
            <a:avLst/>
          </a:prstGeom>
        </p:spPr>
        <p:txBody>
          <a:bodyPr lIns="0" tIns="0" rIns="0" bIns="0" rtlCol="0" anchor="t">
            <a:spAutoFit/>
          </a:bodyPr>
          <a:lstStyle/>
          <a:p>
            <a:pPr algn="l">
              <a:lnSpc>
                <a:spcPts val="6702"/>
              </a:lnSpc>
              <a:spcBef>
                <a:spcPct val="0"/>
              </a:spcBef>
            </a:pPr>
            <a:r>
              <a:rPr lang="en-US" sz="4787" spc="-382">
                <a:solidFill>
                  <a:srgbClr val="4B3C3D"/>
                </a:solidFill>
                <a:latin typeface="Open Sauce"/>
                <a:ea typeface="Open Sauce"/>
                <a:cs typeface="Open Sauce"/>
                <a:sym typeface="Open Sauce"/>
              </a:rPr>
              <a:t>Introducerea temei și importanța acesteia</a:t>
            </a:r>
          </a:p>
        </p:txBody>
      </p:sp>
      <p:sp>
        <p:nvSpPr>
          <p:cNvPr id="12" name="TextBox 12"/>
          <p:cNvSpPr txBox="1"/>
          <p:nvPr/>
        </p:nvSpPr>
        <p:spPr>
          <a:xfrm>
            <a:off x="979890" y="3524003"/>
            <a:ext cx="7383607" cy="5595302"/>
          </a:xfrm>
          <a:prstGeom prst="rect">
            <a:avLst/>
          </a:prstGeom>
        </p:spPr>
        <p:txBody>
          <a:bodyPr lIns="0" tIns="0" rIns="0" bIns="0" rtlCol="0" anchor="t">
            <a:spAutoFit/>
          </a:bodyPr>
          <a:lstStyle/>
          <a:p>
            <a:pPr algn="just">
              <a:lnSpc>
                <a:spcPts val="4497"/>
              </a:lnSpc>
              <a:spcBef>
                <a:spcPct val="0"/>
              </a:spcBef>
            </a:pPr>
            <a:r>
              <a:rPr lang="en-US" sz="3212" spc="-160">
                <a:solidFill>
                  <a:srgbClr val="FFFFFF"/>
                </a:solidFill>
                <a:latin typeface="Open Sauce"/>
                <a:ea typeface="Open Sauce"/>
                <a:cs typeface="Open Sauce"/>
                <a:sym typeface="Open Sauce"/>
              </a:rPr>
              <a:t> Poluarea aerului reprezintă una dintre cele mai mari probleme de mediu și sănătate publică la nivel global. Particulele fine PM2.5 au un impact major asupra sănătății populației, fiind asociate cu afecțiuni respiratorii și cardiovasculare. Analizarea evoluției nivelului de PM2.5 în perioada 1990–2020 permite înțelegerea tendințelor globale și regionale ale poluării aerului.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D2D2"/>
        </a:solidFill>
        <a:effectLst/>
      </p:bgPr>
    </p:bg>
    <p:spTree>
      <p:nvGrpSpPr>
        <p:cNvPr id="1" name=""/>
        <p:cNvGrpSpPr/>
        <p:nvPr/>
      </p:nvGrpSpPr>
      <p:grpSpPr>
        <a:xfrm>
          <a:off x="0" y="0"/>
          <a:ext cx="0" cy="0"/>
          <a:chOff x="0" y="0"/>
          <a:chExt cx="0" cy="0"/>
        </a:xfrm>
      </p:grpSpPr>
      <p:grpSp>
        <p:nvGrpSpPr>
          <p:cNvPr id="2" name="Group 2"/>
          <p:cNvGrpSpPr/>
          <p:nvPr/>
        </p:nvGrpSpPr>
        <p:grpSpPr>
          <a:xfrm>
            <a:off x="1028700" y="587698"/>
            <a:ext cx="7778219" cy="9262783"/>
            <a:chOff x="0" y="0"/>
            <a:chExt cx="2048584" cy="2439581"/>
          </a:xfrm>
        </p:grpSpPr>
        <p:sp>
          <p:nvSpPr>
            <p:cNvPr id="3" name="Freeform 3"/>
            <p:cNvSpPr/>
            <p:nvPr/>
          </p:nvSpPr>
          <p:spPr>
            <a:xfrm>
              <a:off x="0" y="0"/>
              <a:ext cx="2048584" cy="2439581"/>
            </a:xfrm>
            <a:custGeom>
              <a:avLst/>
              <a:gdLst/>
              <a:ahLst/>
              <a:cxnLst/>
              <a:rect l="l" t="t" r="r" b="b"/>
              <a:pathLst>
                <a:path w="2048584" h="2439581">
                  <a:moveTo>
                    <a:pt x="99533" y="0"/>
                  </a:moveTo>
                  <a:lnTo>
                    <a:pt x="1949051" y="0"/>
                  </a:lnTo>
                  <a:cubicBezTo>
                    <a:pt x="1975449" y="0"/>
                    <a:pt x="2000766" y="10487"/>
                    <a:pt x="2019432" y="29153"/>
                  </a:cubicBezTo>
                  <a:cubicBezTo>
                    <a:pt x="2038098" y="47819"/>
                    <a:pt x="2048584" y="73135"/>
                    <a:pt x="2048584" y="99533"/>
                  </a:cubicBezTo>
                  <a:lnTo>
                    <a:pt x="2048584" y="2340047"/>
                  </a:lnTo>
                  <a:cubicBezTo>
                    <a:pt x="2048584" y="2395018"/>
                    <a:pt x="2004022" y="2439581"/>
                    <a:pt x="1949051" y="2439581"/>
                  </a:cubicBezTo>
                  <a:lnTo>
                    <a:pt x="99533" y="2439581"/>
                  </a:lnTo>
                  <a:cubicBezTo>
                    <a:pt x="73135" y="2439581"/>
                    <a:pt x="47819" y="2429094"/>
                    <a:pt x="29153" y="2410428"/>
                  </a:cubicBezTo>
                  <a:cubicBezTo>
                    <a:pt x="10487" y="2391762"/>
                    <a:pt x="0" y="2366445"/>
                    <a:pt x="0" y="2340047"/>
                  </a:cubicBezTo>
                  <a:lnTo>
                    <a:pt x="0" y="99533"/>
                  </a:lnTo>
                  <a:cubicBezTo>
                    <a:pt x="0" y="73135"/>
                    <a:pt x="10487" y="47819"/>
                    <a:pt x="29153" y="29153"/>
                  </a:cubicBezTo>
                  <a:cubicBezTo>
                    <a:pt x="47819" y="10487"/>
                    <a:pt x="73135" y="0"/>
                    <a:pt x="99533" y="0"/>
                  </a:cubicBezTo>
                  <a:close/>
                </a:path>
              </a:pathLst>
            </a:custGeom>
            <a:solidFill>
              <a:srgbClr val="FBEDCE"/>
            </a:solidFill>
          </p:spPr>
        </p:sp>
        <p:sp>
          <p:nvSpPr>
            <p:cNvPr id="4" name="TextBox 4"/>
            <p:cNvSpPr txBox="1"/>
            <p:nvPr/>
          </p:nvSpPr>
          <p:spPr>
            <a:xfrm>
              <a:off x="0" y="-28575"/>
              <a:ext cx="2048584" cy="2468156"/>
            </a:xfrm>
            <a:prstGeom prst="rect">
              <a:avLst/>
            </a:prstGeom>
          </p:spPr>
          <p:txBody>
            <a:bodyPr lIns="50800" tIns="50800" rIns="50800" bIns="50800" rtlCol="0" anchor="ctr"/>
            <a:lstStyle/>
            <a:p>
              <a:pPr algn="ctr">
                <a:lnSpc>
                  <a:spcPts val="1960"/>
                </a:lnSpc>
              </a:pPr>
              <a:endParaRPr/>
            </a:p>
          </p:txBody>
        </p:sp>
      </p:grpSp>
      <p:sp>
        <p:nvSpPr>
          <p:cNvPr id="5" name="TextBox 5"/>
          <p:cNvSpPr txBox="1"/>
          <p:nvPr/>
        </p:nvSpPr>
        <p:spPr>
          <a:xfrm>
            <a:off x="1310573" y="1698014"/>
            <a:ext cx="7214473" cy="7432675"/>
          </a:xfrm>
          <a:prstGeom prst="rect">
            <a:avLst/>
          </a:prstGeom>
        </p:spPr>
        <p:txBody>
          <a:bodyPr lIns="0" tIns="0" rIns="0" bIns="0" rtlCol="0" anchor="t">
            <a:spAutoFit/>
          </a:bodyPr>
          <a:lstStyle/>
          <a:p>
            <a:pPr algn="l">
              <a:lnSpc>
                <a:spcPts val="3499"/>
              </a:lnSpc>
              <a:spcBef>
                <a:spcPct val="0"/>
              </a:spcBef>
            </a:pPr>
            <a:r>
              <a:rPr lang="en-US" sz="2499" b="1" spc="-124">
                <a:solidFill>
                  <a:srgbClr val="000000"/>
                </a:solidFill>
                <a:latin typeface="Open Sauce Bold"/>
                <a:ea typeface="Open Sauce Bold"/>
                <a:cs typeface="Open Sauce Bold"/>
                <a:sym typeface="Open Sauce Bold"/>
              </a:rPr>
              <a:t> </a:t>
            </a:r>
          </a:p>
          <a:p>
            <a:pPr marL="539746" lvl="1" indent="-269873" algn="l">
              <a:lnSpc>
                <a:spcPts val="3499"/>
              </a:lnSpc>
              <a:buFont typeface="Arial"/>
              <a:buChar char="•"/>
            </a:pPr>
            <a:r>
              <a:rPr lang="en-US" sz="2499" b="1" spc="-124">
                <a:solidFill>
                  <a:srgbClr val="000000"/>
                </a:solidFill>
                <a:latin typeface="Open Sauce Bold"/>
                <a:ea typeface="Open Sauce Bold"/>
                <a:cs typeface="Open Sauce Bold"/>
                <a:sym typeface="Open Sauce Bold"/>
              </a:rPr>
              <a:t>Analizarea evoluției nivelului de PM2.5 la nivel global între 1990 și 2020</a:t>
            </a:r>
          </a:p>
          <a:p>
            <a:pPr algn="l">
              <a:lnSpc>
                <a:spcPts val="3499"/>
              </a:lnSpc>
              <a:spcBef>
                <a:spcPct val="0"/>
              </a:spcBef>
            </a:pPr>
            <a:endParaRPr lang="en-US" sz="2499" b="1" spc="-124">
              <a:solidFill>
                <a:srgbClr val="000000"/>
              </a:solidFill>
              <a:latin typeface="Open Sauce Bold"/>
              <a:ea typeface="Open Sauce Bold"/>
              <a:cs typeface="Open Sauce Bold"/>
              <a:sym typeface="Open Sauce Bold"/>
            </a:endParaRPr>
          </a:p>
          <a:p>
            <a:pPr marL="539746" lvl="1" indent="-269873" algn="l">
              <a:lnSpc>
                <a:spcPts val="3499"/>
              </a:lnSpc>
              <a:buFont typeface="Arial"/>
              <a:buChar char="•"/>
            </a:pPr>
            <a:r>
              <a:rPr lang="en-US" sz="2499" b="1" spc="-124">
                <a:solidFill>
                  <a:srgbClr val="000000"/>
                </a:solidFill>
                <a:latin typeface="Open Sauce Bold"/>
                <a:ea typeface="Open Sauce Bold"/>
                <a:cs typeface="Open Sauce Bold"/>
                <a:sym typeface="Open Sauce Bold"/>
              </a:rPr>
              <a:t>Identificarea regiunilor/țărilor cu cele mai ridicate și cele mai scăzute niveluri de poluare</a:t>
            </a:r>
          </a:p>
          <a:p>
            <a:pPr algn="l">
              <a:lnSpc>
                <a:spcPts val="3499"/>
              </a:lnSpc>
              <a:spcBef>
                <a:spcPct val="0"/>
              </a:spcBef>
            </a:pPr>
            <a:endParaRPr lang="en-US" sz="2499" b="1" spc="-124">
              <a:solidFill>
                <a:srgbClr val="000000"/>
              </a:solidFill>
              <a:latin typeface="Open Sauce Bold"/>
              <a:ea typeface="Open Sauce Bold"/>
              <a:cs typeface="Open Sauce Bold"/>
              <a:sym typeface="Open Sauce Bold"/>
            </a:endParaRPr>
          </a:p>
          <a:p>
            <a:pPr marL="539746" lvl="1" indent="-269873" algn="l">
              <a:lnSpc>
                <a:spcPts val="3499"/>
              </a:lnSpc>
              <a:buFont typeface="Arial"/>
              <a:buChar char="•"/>
            </a:pPr>
            <a:r>
              <a:rPr lang="en-US" sz="2499" b="1" spc="-124">
                <a:solidFill>
                  <a:srgbClr val="000000"/>
                </a:solidFill>
                <a:latin typeface="Open Sauce Bold"/>
                <a:ea typeface="Open Sauce Bold"/>
                <a:cs typeface="Open Sauce Bold"/>
                <a:sym typeface="Open Sauce Bold"/>
              </a:rPr>
              <a:t>Evidențierea tendințelor de creștere sau scădere a poluării aerului în timp</a:t>
            </a:r>
          </a:p>
          <a:p>
            <a:pPr algn="l">
              <a:lnSpc>
                <a:spcPts val="3499"/>
              </a:lnSpc>
              <a:spcBef>
                <a:spcPct val="0"/>
              </a:spcBef>
            </a:pPr>
            <a:endParaRPr lang="en-US" sz="2499" b="1" spc="-124">
              <a:solidFill>
                <a:srgbClr val="000000"/>
              </a:solidFill>
              <a:latin typeface="Open Sauce Bold"/>
              <a:ea typeface="Open Sauce Bold"/>
              <a:cs typeface="Open Sauce Bold"/>
              <a:sym typeface="Open Sauce Bold"/>
            </a:endParaRPr>
          </a:p>
          <a:p>
            <a:pPr algn="l">
              <a:lnSpc>
                <a:spcPts val="3499"/>
              </a:lnSpc>
              <a:spcBef>
                <a:spcPct val="0"/>
              </a:spcBef>
            </a:pPr>
            <a:r>
              <a:rPr lang="en-US" sz="2499" b="1" spc="-124">
                <a:solidFill>
                  <a:srgbClr val="000000"/>
                </a:solidFill>
                <a:latin typeface="Open Sauce Bold"/>
                <a:ea typeface="Open Sauce Bold"/>
                <a:cs typeface="Open Sauce Bold"/>
                <a:sym typeface="Open Sauce Bold"/>
              </a:rPr>
              <a:t>Întrebări la care răspunde dashboard-ul:</a:t>
            </a:r>
          </a:p>
          <a:p>
            <a:pPr algn="l">
              <a:lnSpc>
                <a:spcPts val="3499"/>
              </a:lnSpc>
              <a:spcBef>
                <a:spcPct val="0"/>
              </a:spcBef>
            </a:pPr>
            <a:endParaRPr lang="en-US" sz="2499" b="1" spc="-124">
              <a:solidFill>
                <a:srgbClr val="000000"/>
              </a:solidFill>
              <a:latin typeface="Open Sauce Bold"/>
              <a:ea typeface="Open Sauce Bold"/>
              <a:cs typeface="Open Sauce Bold"/>
              <a:sym typeface="Open Sauce Bold"/>
            </a:endParaRPr>
          </a:p>
          <a:p>
            <a:pPr marL="539746" lvl="1" indent="-269873" algn="l">
              <a:lnSpc>
                <a:spcPts val="3499"/>
              </a:lnSpc>
              <a:spcBef>
                <a:spcPct val="0"/>
              </a:spcBef>
              <a:buFont typeface="Arial"/>
              <a:buChar char="•"/>
            </a:pPr>
            <a:r>
              <a:rPr lang="en-US" sz="2499" b="1" spc="-124">
                <a:solidFill>
                  <a:srgbClr val="000000"/>
                </a:solidFill>
                <a:latin typeface="Open Sauce Bold"/>
                <a:ea typeface="Open Sauce Bold"/>
                <a:cs typeface="Open Sauce Bold"/>
                <a:sym typeface="Open Sauce Bold"/>
              </a:rPr>
              <a:t>Cum a evoluat poluarea aerului în timp?</a:t>
            </a:r>
          </a:p>
          <a:p>
            <a:pPr marL="539746" lvl="1" indent="-269873" algn="l">
              <a:lnSpc>
                <a:spcPts val="3499"/>
              </a:lnSpc>
              <a:spcBef>
                <a:spcPct val="0"/>
              </a:spcBef>
              <a:buFont typeface="Arial"/>
              <a:buChar char="•"/>
            </a:pPr>
            <a:r>
              <a:rPr lang="en-US" sz="2499" b="1" spc="-124">
                <a:solidFill>
                  <a:srgbClr val="000000"/>
                </a:solidFill>
                <a:latin typeface="Open Sauce Bold"/>
                <a:ea typeface="Open Sauce Bold"/>
                <a:cs typeface="Open Sauce Bold"/>
                <a:sym typeface="Open Sauce Bold"/>
              </a:rPr>
              <a:t>Există diferențe semnificative între regiuni sau țări?</a:t>
            </a:r>
          </a:p>
          <a:p>
            <a:pPr marL="539746" lvl="1" indent="-269873" algn="l">
              <a:lnSpc>
                <a:spcPts val="3499"/>
              </a:lnSpc>
              <a:spcBef>
                <a:spcPct val="0"/>
              </a:spcBef>
              <a:buFont typeface="Arial"/>
              <a:buChar char="•"/>
            </a:pPr>
            <a:r>
              <a:rPr lang="en-US" sz="2499" b="1" spc="-124">
                <a:solidFill>
                  <a:srgbClr val="000000"/>
                </a:solidFill>
                <a:latin typeface="Open Sauce Bold"/>
                <a:ea typeface="Open Sauce Bold"/>
                <a:cs typeface="Open Sauce Bold"/>
                <a:sym typeface="Open Sauce Bold"/>
              </a:rPr>
              <a:t>Care sunt zonele cele mai afectate de PM2.5?</a:t>
            </a:r>
          </a:p>
          <a:p>
            <a:pPr algn="l">
              <a:lnSpc>
                <a:spcPts val="3499"/>
              </a:lnSpc>
              <a:spcBef>
                <a:spcPct val="0"/>
              </a:spcBef>
            </a:pPr>
            <a:endParaRPr lang="en-US" sz="2499" b="1" spc="-124">
              <a:solidFill>
                <a:srgbClr val="000000"/>
              </a:solidFill>
              <a:latin typeface="Open Sauce Bold"/>
              <a:ea typeface="Open Sauce Bold"/>
              <a:cs typeface="Open Sauce Bold"/>
              <a:sym typeface="Open Sauce Bold"/>
            </a:endParaRPr>
          </a:p>
        </p:txBody>
      </p:sp>
      <p:grpSp>
        <p:nvGrpSpPr>
          <p:cNvPr id="6" name="Group 6"/>
          <p:cNvGrpSpPr/>
          <p:nvPr/>
        </p:nvGrpSpPr>
        <p:grpSpPr>
          <a:xfrm>
            <a:off x="9695937" y="880665"/>
            <a:ext cx="7229188" cy="2867553"/>
            <a:chOff x="0" y="0"/>
            <a:chExt cx="1903984" cy="755240"/>
          </a:xfrm>
        </p:grpSpPr>
        <p:sp>
          <p:nvSpPr>
            <p:cNvPr id="7" name="Freeform 7"/>
            <p:cNvSpPr/>
            <p:nvPr/>
          </p:nvSpPr>
          <p:spPr>
            <a:xfrm>
              <a:off x="0" y="0"/>
              <a:ext cx="1903984" cy="755240"/>
            </a:xfrm>
            <a:custGeom>
              <a:avLst/>
              <a:gdLst/>
              <a:ahLst/>
              <a:cxnLst/>
              <a:rect l="l" t="t" r="r" b="b"/>
              <a:pathLst>
                <a:path w="1903984" h="755240">
                  <a:moveTo>
                    <a:pt x="107093" y="0"/>
                  </a:moveTo>
                  <a:lnTo>
                    <a:pt x="1796891" y="0"/>
                  </a:lnTo>
                  <a:cubicBezTo>
                    <a:pt x="1825294" y="0"/>
                    <a:pt x="1852533" y="11283"/>
                    <a:pt x="1872617" y="31367"/>
                  </a:cubicBezTo>
                  <a:cubicBezTo>
                    <a:pt x="1892701" y="51450"/>
                    <a:pt x="1903984" y="78690"/>
                    <a:pt x="1903984" y="107093"/>
                  </a:cubicBezTo>
                  <a:lnTo>
                    <a:pt x="1903984" y="648148"/>
                  </a:lnTo>
                  <a:cubicBezTo>
                    <a:pt x="1903984" y="676551"/>
                    <a:pt x="1892701" y="703790"/>
                    <a:pt x="1872617" y="723874"/>
                  </a:cubicBezTo>
                  <a:cubicBezTo>
                    <a:pt x="1852533" y="743957"/>
                    <a:pt x="1825294" y="755240"/>
                    <a:pt x="1796891" y="755240"/>
                  </a:cubicBezTo>
                  <a:lnTo>
                    <a:pt x="107093" y="755240"/>
                  </a:lnTo>
                  <a:cubicBezTo>
                    <a:pt x="78690" y="755240"/>
                    <a:pt x="51450" y="743957"/>
                    <a:pt x="31367" y="723874"/>
                  </a:cubicBezTo>
                  <a:cubicBezTo>
                    <a:pt x="11283" y="703790"/>
                    <a:pt x="0" y="676551"/>
                    <a:pt x="0" y="648148"/>
                  </a:cubicBezTo>
                  <a:lnTo>
                    <a:pt x="0" y="107093"/>
                  </a:lnTo>
                  <a:cubicBezTo>
                    <a:pt x="0" y="78690"/>
                    <a:pt x="11283" y="51450"/>
                    <a:pt x="31367" y="31367"/>
                  </a:cubicBezTo>
                  <a:cubicBezTo>
                    <a:pt x="51450" y="11283"/>
                    <a:pt x="78690" y="0"/>
                    <a:pt x="107093" y="0"/>
                  </a:cubicBezTo>
                  <a:close/>
                </a:path>
              </a:pathLst>
            </a:custGeom>
            <a:solidFill>
              <a:srgbClr val="FFFFFF"/>
            </a:solidFill>
          </p:spPr>
        </p:sp>
        <p:sp>
          <p:nvSpPr>
            <p:cNvPr id="8" name="TextBox 8"/>
            <p:cNvSpPr txBox="1"/>
            <p:nvPr/>
          </p:nvSpPr>
          <p:spPr>
            <a:xfrm>
              <a:off x="0" y="-28575"/>
              <a:ext cx="1903984" cy="783815"/>
            </a:xfrm>
            <a:prstGeom prst="rect">
              <a:avLst/>
            </a:prstGeom>
          </p:spPr>
          <p:txBody>
            <a:bodyPr lIns="50800" tIns="50800" rIns="50800" bIns="50800" rtlCol="0" anchor="ctr"/>
            <a:lstStyle/>
            <a:p>
              <a:pPr algn="ctr">
                <a:lnSpc>
                  <a:spcPts val="1960"/>
                </a:lnSpc>
              </a:pPr>
              <a:endParaRPr/>
            </a:p>
          </p:txBody>
        </p:sp>
      </p:grpSp>
      <p:sp>
        <p:nvSpPr>
          <p:cNvPr id="9" name="TextBox 9"/>
          <p:cNvSpPr txBox="1"/>
          <p:nvPr/>
        </p:nvSpPr>
        <p:spPr>
          <a:xfrm>
            <a:off x="9894344" y="1658051"/>
            <a:ext cx="6832373" cy="2174875"/>
          </a:xfrm>
          <a:prstGeom prst="rect">
            <a:avLst/>
          </a:prstGeom>
        </p:spPr>
        <p:txBody>
          <a:bodyPr lIns="0" tIns="0" rIns="0" bIns="0" rtlCol="0" anchor="t">
            <a:spAutoFit/>
          </a:bodyPr>
          <a:lstStyle/>
          <a:p>
            <a:pPr marL="539748" lvl="1" indent="-269874" algn="l">
              <a:lnSpc>
                <a:spcPts val="3499"/>
              </a:lnSpc>
              <a:buFont typeface="Arial"/>
              <a:buChar char="•"/>
            </a:pPr>
            <a:r>
              <a:rPr lang="en-US" sz="2499" b="1" spc="-124">
                <a:solidFill>
                  <a:srgbClr val="000000"/>
                </a:solidFill>
                <a:latin typeface="Open Sauce Bold"/>
                <a:ea typeface="Open Sauce Bold"/>
                <a:cs typeface="Open Sauce Bold"/>
                <a:sym typeface="Open Sauce Bold"/>
              </a:rPr>
              <a:t>Cadre didactice și studenți</a:t>
            </a:r>
          </a:p>
          <a:p>
            <a:pPr marL="539748" lvl="1" indent="-269874" algn="l">
              <a:lnSpc>
                <a:spcPts val="3499"/>
              </a:lnSpc>
              <a:buFont typeface="Arial"/>
              <a:buChar char="•"/>
            </a:pPr>
            <a:r>
              <a:rPr lang="en-US" sz="2499" b="1" spc="-124">
                <a:solidFill>
                  <a:srgbClr val="000000"/>
                </a:solidFill>
                <a:latin typeface="Open Sauce Bold"/>
                <a:ea typeface="Open Sauce Bold"/>
                <a:cs typeface="Open Sauce Bold"/>
                <a:sym typeface="Open Sauce Bold"/>
              </a:rPr>
              <a:t>Persoane interesate de protecția mediului și sănătatea publică</a:t>
            </a:r>
          </a:p>
          <a:p>
            <a:pPr marL="539748" lvl="1" indent="-269874" algn="l">
              <a:lnSpc>
                <a:spcPts val="3499"/>
              </a:lnSpc>
              <a:buFont typeface="Arial"/>
              <a:buChar char="•"/>
            </a:pPr>
            <a:r>
              <a:rPr lang="en-US" sz="2499" b="1" spc="-124">
                <a:solidFill>
                  <a:srgbClr val="000000"/>
                </a:solidFill>
                <a:latin typeface="Open Sauce Bold"/>
                <a:ea typeface="Open Sauce Bold"/>
                <a:cs typeface="Open Sauce Bold"/>
                <a:sym typeface="Open Sauce Bold"/>
              </a:rPr>
              <a:t>Decidenți sau analiști în domeniul mediului</a:t>
            </a:r>
          </a:p>
          <a:p>
            <a:pPr algn="l">
              <a:lnSpc>
                <a:spcPts val="3499"/>
              </a:lnSpc>
            </a:pPr>
            <a:endParaRPr lang="en-US" sz="2499" b="1" spc="-124">
              <a:solidFill>
                <a:srgbClr val="000000"/>
              </a:solidFill>
              <a:latin typeface="Open Sauce Bold"/>
              <a:ea typeface="Open Sauce Bold"/>
              <a:cs typeface="Open Sauce Bold"/>
              <a:sym typeface="Open Sauce Bold"/>
            </a:endParaRPr>
          </a:p>
        </p:txBody>
      </p:sp>
      <p:sp>
        <p:nvSpPr>
          <p:cNvPr id="10" name="TextBox 10"/>
          <p:cNvSpPr txBox="1"/>
          <p:nvPr/>
        </p:nvSpPr>
        <p:spPr>
          <a:xfrm>
            <a:off x="10409654" y="991300"/>
            <a:ext cx="3217779" cy="504826"/>
          </a:xfrm>
          <a:prstGeom prst="rect">
            <a:avLst/>
          </a:prstGeom>
        </p:spPr>
        <p:txBody>
          <a:bodyPr lIns="0" tIns="0" rIns="0" bIns="0" rtlCol="0" anchor="t">
            <a:spAutoFit/>
          </a:bodyPr>
          <a:lstStyle/>
          <a:p>
            <a:pPr algn="l">
              <a:lnSpc>
                <a:spcPts val="4199"/>
              </a:lnSpc>
              <a:spcBef>
                <a:spcPct val="0"/>
              </a:spcBef>
            </a:pPr>
            <a:r>
              <a:rPr lang="en-US" sz="2999" b="1" spc="-149">
                <a:solidFill>
                  <a:srgbClr val="000000"/>
                </a:solidFill>
                <a:latin typeface="Open Sauce Bold"/>
                <a:ea typeface="Open Sauce Bold"/>
                <a:cs typeface="Open Sauce Bold"/>
                <a:sym typeface="Open Sauce Bold"/>
              </a:rPr>
              <a:t>Audiența: </a:t>
            </a:r>
          </a:p>
        </p:txBody>
      </p:sp>
      <p:sp>
        <p:nvSpPr>
          <p:cNvPr id="11" name="TextBox 11"/>
          <p:cNvSpPr txBox="1"/>
          <p:nvPr/>
        </p:nvSpPr>
        <p:spPr>
          <a:xfrm>
            <a:off x="1811840" y="1200850"/>
            <a:ext cx="4168486" cy="504826"/>
          </a:xfrm>
          <a:prstGeom prst="rect">
            <a:avLst/>
          </a:prstGeom>
        </p:spPr>
        <p:txBody>
          <a:bodyPr lIns="0" tIns="0" rIns="0" bIns="0" rtlCol="0" anchor="t">
            <a:spAutoFit/>
          </a:bodyPr>
          <a:lstStyle/>
          <a:p>
            <a:pPr algn="l">
              <a:lnSpc>
                <a:spcPts val="4199"/>
              </a:lnSpc>
              <a:spcBef>
                <a:spcPct val="0"/>
              </a:spcBef>
            </a:pPr>
            <a:r>
              <a:rPr lang="en-US" sz="2999" b="1" spc="-149">
                <a:solidFill>
                  <a:srgbClr val="000000"/>
                </a:solidFill>
                <a:latin typeface="Open Sauce Bold"/>
                <a:ea typeface="Open Sauce Bold"/>
                <a:cs typeface="Open Sauce Bold"/>
                <a:sym typeface="Open Sauce Bold"/>
              </a:rPr>
              <a:t> Obiectivele proiectului: </a:t>
            </a:r>
          </a:p>
        </p:txBody>
      </p:sp>
      <p:grpSp>
        <p:nvGrpSpPr>
          <p:cNvPr id="12" name="Group 12"/>
          <p:cNvGrpSpPr/>
          <p:nvPr/>
        </p:nvGrpSpPr>
        <p:grpSpPr>
          <a:xfrm>
            <a:off x="9695937" y="4148268"/>
            <a:ext cx="7412563" cy="5110032"/>
            <a:chOff x="0" y="0"/>
            <a:chExt cx="1952280" cy="1345852"/>
          </a:xfrm>
        </p:grpSpPr>
        <p:sp>
          <p:nvSpPr>
            <p:cNvPr id="13" name="Freeform 13"/>
            <p:cNvSpPr/>
            <p:nvPr/>
          </p:nvSpPr>
          <p:spPr>
            <a:xfrm>
              <a:off x="0" y="0"/>
              <a:ext cx="1952280" cy="1345852"/>
            </a:xfrm>
            <a:custGeom>
              <a:avLst/>
              <a:gdLst/>
              <a:ahLst/>
              <a:cxnLst/>
              <a:rect l="l" t="t" r="r" b="b"/>
              <a:pathLst>
                <a:path w="1952280" h="1345852">
                  <a:moveTo>
                    <a:pt x="104443" y="0"/>
                  </a:moveTo>
                  <a:lnTo>
                    <a:pt x="1847837" y="0"/>
                  </a:lnTo>
                  <a:cubicBezTo>
                    <a:pt x="1875537" y="0"/>
                    <a:pt x="1902102" y="11004"/>
                    <a:pt x="1921689" y="30591"/>
                  </a:cubicBezTo>
                  <a:cubicBezTo>
                    <a:pt x="1941276" y="50178"/>
                    <a:pt x="1952280" y="76743"/>
                    <a:pt x="1952280" y="104443"/>
                  </a:cubicBezTo>
                  <a:lnTo>
                    <a:pt x="1952280" y="1241409"/>
                  </a:lnTo>
                  <a:cubicBezTo>
                    <a:pt x="1952280" y="1299091"/>
                    <a:pt x="1905519" y="1345852"/>
                    <a:pt x="1847837" y="1345852"/>
                  </a:cubicBezTo>
                  <a:lnTo>
                    <a:pt x="104443" y="1345852"/>
                  </a:lnTo>
                  <a:cubicBezTo>
                    <a:pt x="76743" y="1345852"/>
                    <a:pt x="50178" y="1334848"/>
                    <a:pt x="30591" y="1315261"/>
                  </a:cubicBezTo>
                  <a:cubicBezTo>
                    <a:pt x="11004" y="1295674"/>
                    <a:pt x="0" y="1269109"/>
                    <a:pt x="0" y="1241409"/>
                  </a:cubicBezTo>
                  <a:lnTo>
                    <a:pt x="0" y="104443"/>
                  </a:lnTo>
                  <a:cubicBezTo>
                    <a:pt x="0" y="76743"/>
                    <a:pt x="11004" y="50178"/>
                    <a:pt x="30591" y="30591"/>
                  </a:cubicBezTo>
                  <a:cubicBezTo>
                    <a:pt x="50178" y="11004"/>
                    <a:pt x="76743" y="0"/>
                    <a:pt x="104443" y="0"/>
                  </a:cubicBezTo>
                  <a:close/>
                </a:path>
              </a:pathLst>
            </a:custGeom>
            <a:solidFill>
              <a:srgbClr val="FFFFFF"/>
            </a:solidFill>
          </p:spPr>
        </p:sp>
        <p:sp>
          <p:nvSpPr>
            <p:cNvPr id="14" name="TextBox 14"/>
            <p:cNvSpPr txBox="1"/>
            <p:nvPr/>
          </p:nvSpPr>
          <p:spPr>
            <a:xfrm>
              <a:off x="0" y="-28575"/>
              <a:ext cx="1952280" cy="1374427"/>
            </a:xfrm>
            <a:prstGeom prst="rect">
              <a:avLst/>
            </a:prstGeom>
          </p:spPr>
          <p:txBody>
            <a:bodyPr lIns="50800" tIns="50800" rIns="50800" bIns="50800" rtlCol="0" anchor="ctr"/>
            <a:lstStyle/>
            <a:p>
              <a:pPr algn="ctr">
                <a:lnSpc>
                  <a:spcPts val="1960"/>
                </a:lnSpc>
              </a:pPr>
              <a:endParaRPr/>
            </a:p>
          </p:txBody>
        </p:sp>
      </p:grpSp>
      <p:sp>
        <p:nvSpPr>
          <p:cNvPr id="15" name="TextBox 15"/>
          <p:cNvSpPr txBox="1"/>
          <p:nvPr/>
        </p:nvSpPr>
        <p:spPr>
          <a:xfrm>
            <a:off x="10409654" y="4638674"/>
            <a:ext cx="3217779" cy="504826"/>
          </a:xfrm>
          <a:prstGeom prst="rect">
            <a:avLst/>
          </a:prstGeom>
        </p:spPr>
        <p:txBody>
          <a:bodyPr lIns="0" tIns="0" rIns="0" bIns="0" rtlCol="0" anchor="t">
            <a:spAutoFit/>
          </a:bodyPr>
          <a:lstStyle/>
          <a:p>
            <a:pPr algn="l">
              <a:lnSpc>
                <a:spcPts val="4199"/>
              </a:lnSpc>
              <a:spcBef>
                <a:spcPct val="0"/>
              </a:spcBef>
            </a:pPr>
            <a:r>
              <a:rPr lang="en-US" sz="2999" b="1" spc="-149">
                <a:solidFill>
                  <a:srgbClr val="000000"/>
                </a:solidFill>
                <a:latin typeface="Open Sauce Bold"/>
                <a:ea typeface="Open Sauce Bold"/>
                <a:cs typeface="Open Sauce Bold"/>
                <a:sym typeface="Open Sauce Bold"/>
              </a:rPr>
              <a:t>Datele utilizate: </a:t>
            </a:r>
          </a:p>
        </p:txBody>
      </p:sp>
      <p:sp>
        <p:nvSpPr>
          <p:cNvPr id="16" name="TextBox 16"/>
          <p:cNvSpPr txBox="1"/>
          <p:nvPr/>
        </p:nvSpPr>
        <p:spPr>
          <a:xfrm>
            <a:off x="9894344" y="5305425"/>
            <a:ext cx="6633966" cy="3489325"/>
          </a:xfrm>
          <a:prstGeom prst="rect">
            <a:avLst/>
          </a:prstGeom>
        </p:spPr>
        <p:txBody>
          <a:bodyPr lIns="0" tIns="0" rIns="0" bIns="0" rtlCol="0" anchor="t">
            <a:spAutoFit/>
          </a:bodyPr>
          <a:lstStyle/>
          <a:p>
            <a:pPr marL="539748" lvl="1" indent="-269874" algn="l">
              <a:lnSpc>
                <a:spcPts val="3499"/>
              </a:lnSpc>
              <a:buFont typeface="Arial"/>
              <a:buChar char="•"/>
            </a:pPr>
            <a:r>
              <a:rPr lang="en-US" sz="2499" b="1" spc="-124">
                <a:solidFill>
                  <a:srgbClr val="000000"/>
                </a:solidFill>
                <a:latin typeface="Open Sauce Bold"/>
                <a:ea typeface="Open Sauce Bold"/>
                <a:cs typeface="Open Sauce Bold"/>
                <a:sym typeface="Open Sauce Bold"/>
              </a:rPr>
              <a:t>Pentru realizarea obiectivelor, am folosit date globale privind concentrația anuală de PM2.5 (1990–2020).</a:t>
            </a:r>
          </a:p>
          <a:p>
            <a:pPr marL="539748" lvl="1" indent="-269874" algn="l">
              <a:lnSpc>
                <a:spcPts val="3499"/>
              </a:lnSpc>
              <a:buFont typeface="Arial"/>
              <a:buChar char="•"/>
            </a:pPr>
            <a:r>
              <a:rPr lang="en-US" sz="2499" b="1" spc="-124">
                <a:solidFill>
                  <a:srgbClr val="000000"/>
                </a:solidFill>
                <a:latin typeface="Open Sauce Bold"/>
                <a:ea typeface="Open Sauce Bold"/>
                <a:cs typeface="Open Sauce Bold"/>
                <a:sym typeface="Open Sauce Bold"/>
              </a:rPr>
              <a:t>Datele au fost analizate și vizualizate într-un dashboard interactiv pentru a evidenția evoluția și diferențele regionale ale poluării aerului.</a:t>
            </a:r>
          </a:p>
          <a:p>
            <a:pPr algn="l">
              <a:lnSpc>
                <a:spcPts val="3499"/>
              </a:lnSpc>
            </a:pPr>
            <a:endParaRPr lang="en-US" sz="2499" b="1" spc="-124">
              <a:solidFill>
                <a:srgbClr val="000000"/>
              </a:solidFill>
              <a:latin typeface="Open Sauce Bold"/>
              <a:ea typeface="Open Sauce Bold"/>
              <a:cs typeface="Open Sauce Bold"/>
              <a:sym typeface="Open Sauce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2BBBB"/>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902816" cy="8229600"/>
            <a:chOff x="0" y="0"/>
            <a:chExt cx="1064711" cy="1484401"/>
          </a:xfrm>
        </p:grpSpPr>
        <p:sp>
          <p:nvSpPr>
            <p:cNvPr id="3" name="Freeform 3"/>
            <p:cNvSpPr/>
            <p:nvPr/>
          </p:nvSpPr>
          <p:spPr>
            <a:xfrm flipH="1">
              <a:off x="0" y="0"/>
              <a:ext cx="1064711" cy="1484401"/>
            </a:xfrm>
            <a:custGeom>
              <a:avLst/>
              <a:gdLst/>
              <a:ahLst/>
              <a:cxnLst/>
              <a:rect l="l" t="t" r="r" b="b"/>
              <a:pathLst>
                <a:path w="1064711" h="1484401">
                  <a:moveTo>
                    <a:pt x="1038480" y="0"/>
                  </a:moveTo>
                  <a:lnTo>
                    <a:pt x="26231" y="0"/>
                  </a:lnTo>
                  <a:cubicBezTo>
                    <a:pt x="11744" y="0"/>
                    <a:pt x="0" y="11744"/>
                    <a:pt x="0" y="26231"/>
                  </a:cubicBezTo>
                  <a:lnTo>
                    <a:pt x="0" y="1458170"/>
                  </a:lnTo>
                  <a:cubicBezTo>
                    <a:pt x="0" y="1472657"/>
                    <a:pt x="11744" y="1484401"/>
                    <a:pt x="26231" y="1484401"/>
                  </a:cubicBezTo>
                  <a:lnTo>
                    <a:pt x="1038480" y="1484401"/>
                  </a:lnTo>
                  <a:cubicBezTo>
                    <a:pt x="1052967" y="1484401"/>
                    <a:pt x="1064711" y="1472657"/>
                    <a:pt x="1064711" y="1458170"/>
                  </a:cubicBezTo>
                  <a:lnTo>
                    <a:pt x="1064711" y="26231"/>
                  </a:lnTo>
                  <a:cubicBezTo>
                    <a:pt x="1064711" y="11744"/>
                    <a:pt x="1052967" y="0"/>
                    <a:pt x="1038480" y="0"/>
                  </a:cubicBezTo>
                  <a:close/>
                </a:path>
              </a:pathLst>
            </a:custGeom>
            <a:blipFill>
              <a:blip r:embed="rId2"/>
              <a:stretch>
                <a:fillRect l="-92945" r="-16312"/>
              </a:stretch>
            </a:blipFill>
          </p:spPr>
        </p:sp>
      </p:grpSp>
      <p:sp>
        <p:nvSpPr>
          <p:cNvPr id="4" name="TextBox 4"/>
          <p:cNvSpPr txBox="1"/>
          <p:nvPr/>
        </p:nvSpPr>
        <p:spPr>
          <a:xfrm>
            <a:off x="7266964" y="695325"/>
            <a:ext cx="11021036" cy="762000"/>
          </a:xfrm>
          <a:prstGeom prst="rect">
            <a:avLst/>
          </a:prstGeom>
        </p:spPr>
        <p:txBody>
          <a:bodyPr lIns="0" tIns="0" rIns="0" bIns="0" rtlCol="0" anchor="t">
            <a:spAutoFit/>
          </a:bodyPr>
          <a:lstStyle/>
          <a:p>
            <a:pPr algn="l">
              <a:lnSpc>
                <a:spcPts val="6083"/>
              </a:lnSpc>
            </a:pPr>
            <a:r>
              <a:rPr lang="en-US" sz="5069" spc="-405">
                <a:solidFill>
                  <a:srgbClr val="000000"/>
                </a:solidFill>
                <a:latin typeface="Open Sauce"/>
                <a:ea typeface="Open Sauce"/>
                <a:cs typeface="Open Sauce"/>
                <a:sym typeface="Open Sauce"/>
              </a:rPr>
              <a:t>Selectarea și prezentarea bazei de date</a:t>
            </a:r>
          </a:p>
        </p:txBody>
      </p:sp>
      <p:grpSp>
        <p:nvGrpSpPr>
          <p:cNvPr id="5" name="Group 5"/>
          <p:cNvGrpSpPr/>
          <p:nvPr/>
        </p:nvGrpSpPr>
        <p:grpSpPr>
          <a:xfrm>
            <a:off x="7266964" y="2904171"/>
            <a:ext cx="7990235" cy="968485"/>
            <a:chOff x="0" y="0"/>
            <a:chExt cx="2104424" cy="255074"/>
          </a:xfrm>
        </p:grpSpPr>
        <p:sp>
          <p:nvSpPr>
            <p:cNvPr id="6" name="Freeform 6"/>
            <p:cNvSpPr/>
            <p:nvPr/>
          </p:nvSpPr>
          <p:spPr>
            <a:xfrm>
              <a:off x="0" y="0"/>
              <a:ext cx="2104424" cy="255074"/>
            </a:xfrm>
            <a:custGeom>
              <a:avLst/>
              <a:gdLst/>
              <a:ahLst/>
              <a:cxnLst/>
              <a:rect l="l" t="t" r="r" b="b"/>
              <a:pathLst>
                <a:path w="2104424" h="255074">
                  <a:moveTo>
                    <a:pt x="96892" y="0"/>
                  </a:moveTo>
                  <a:lnTo>
                    <a:pt x="2007532" y="0"/>
                  </a:lnTo>
                  <a:cubicBezTo>
                    <a:pt x="2033229" y="0"/>
                    <a:pt x="2057874" y="10208"/>
                    <a:pt x="2076045" y="28379"/>
                  </a:cubicBezTo>
                  <a:cubicBezTo>
                    <a:pt x="2094216" y="46550"/>
                    <a:pt x="2104424" y="71195"/>
                    <a:pt x="2104424" y="96892"/>
                  </a:cubicBezTo>
                  <a:lnTo>
                    <a:pt x="2104424" y="158182"/>
                  </a:lnTo>
                  <a:cubicBezTo>
                    <a:pt x="2104424" y="183880"/>
                    <a:pt x="2094216" y="208524"/>
                    <a:pt x="2076045" y="226695"/>
                  </a:cubicBezTo>
                  <a:cubicBezTo>
                    <a:pt x="2057874" y="244866"/>
                    <a:pt x="2033229" y="255074"/>
                    <a:pt x="2007532" y="255074"/>
                  </a:cubicBezTo>
                  <a:lnTo>
                    <a:pt x="96892" y="255074"/>
                  </a:lnTo>
                  <a:cubicBezTo>
                    <a:pt x="71195" y="255074"/>
                    <a:pt x="46550" y="244866"/>
                    <a:pt x="28379" y="226695"/>
                  </a:cubicBezTo>
                  <a:cubicBezTo>
                    <a:pt x="10208" y="208524"/>
                    <a:pt x="0" y="183880"/>
                    <a:pt x="0" y="158182"/>
                  </a:cubicBezTo>
                  <a:lnTo>
                    <a:pt x="0" y="96892"/>
                  </a:lnTo>
                  <a:cubicBezTo>
                    <a:pt x="0" y="71195"/>
                    <a:pt x="10208" y="46550"/>
                    <a:pt x="28379" y="28379"/>
                  </a:cubicBezTo>
                  <a:cubicBezTo>
                    <a:pt x="46550" y="10208"/>
                    <a:pt x="71195" y="0"/>
                    <a:pt x="96892" y="0"/>
                  </a:cubicBezTo>
                  <a:close/>
                </a:path>
              </a:pathLst>
            </a:custGeom>
            <a:solidFill>
              <a:srgbClr val="FFF9EC"/>
            </a:solidFill>
          </p:spPr>
        </p:sp>
        <p:sp>
          <p:nvSpPr>
            <p:cNvPr id="7" name="TextBox 7"/>
            <p:cNvSpPr txBox="1"/>
            <p:nvPr/>
          </p:nvSpPr>
          <p:spPr>
            <a:xfrm>
              <a:off x="0" y="-28575"/>
              <a:ext cx="2104424" cy="283649"/>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7710552" y="3075077"/>
            <a:ext cx="7348390" cy="490855"/>
          </a:xfrm>
          <a:prstGeom prst="rect">
            <a:avLst/>
          </a:prstGeom>
        </p:spPr>
        <p:txBody>
          <a:bodyPr lIns="0" tIns="0" rIns="0" bIns="0" rtlCol="0" anchor="t">
            <a:spAutoFit/>
          </a:bodyPr>
          <a:lstStyle/>
          <a:p>
            <a:pPr algn="l">
              <a:lnSpc>
                <a:spcPts val="3919"/>
              </a:lnSpc>
              <a:spcBef>
                <a:spcPct val="0"/>
              </a:spcBef>
            </a:pPr>
            <a:r>
              <a:rPr lang="en-US" sz="2799" spc="-139">
                <a:solidFill>
                  <a:srgbClr val="000000"/>
                </a:solidFill>
                <a:latin typeface="Open Sauce"/>
                <a:ea typeface="Open Sauce"/>
                <a:cs typeface="Open Sauce"/>
                <a:sym typeface="Open Sauce"/>
              </a:rPr>
              <a:t>Număr observații: 205 țări × 31 ani (1990–2020)</a:t>
            </a:r>
          </a:p>
        </p:txBody>
      </p:sp>
      <p:grpSp>
        <p:nvGrpSpPr>
          <p:cNvPr id="9" name="Group 9"/>
          <p:cNvGrpSpPr/>
          <p:nvPr/>
        </p:nvGrpSpPr>
        <p:grpSpPr>
          <a:xfrm>
            <a:off x="7305219" y="1801792"/>
            <a:ext cx="8721548" cy="968485"/>
            <a:chOff x="0" y="0"/>
            <a:chExt cx="2297033" cy="255074"/>
          </a:xfrm>
        </p:grpSpPr>
        <p:sp>
          <p:nvSpPr>
            <p:cNvPr id="10" name="Freeform 10"/>
            <p:cNvSpPr/>
            <p:nvPr/>
          </p:nvSpPr>
          <p:spPr>
            <a:xfrm>
              <a:off x="0" y="0"/>
              <a:ext cx="2297033" cy="255074"/>
            </a:xfrm>
            <a:custGeom>
              <a:avLst/>
              <a:gdLst/>
              <a:ahLst/>
              <a:cxnLst/>
              <a:rect l="l" t="t" r="r" b="b"/>
              <a:pathLst>
                <a:path w="2297033" h="255074">
                  <a:moveTo>
                    <a:pt x="88768" y="0"/>
                  </a:moveTo>
                  <a:lnTo>
                    <a:pt x="2208266" y="0"/>
                  </a:lnTo>
                  <a:cubicBezTo>
                    <a:pt x="2231808" y="0"/>
                    <a:pt x="2254387" y="9352"/>
                    <a:pt x="2271034" y="25999"/>
                  </a:cubicBezTo>
                  <a:cubicBezTo>
                    <a:pt x="2287681" y="42647"/>
                    <a:pt x="2297033" y="65225"/>
                    <a:pt x="2297033" y="88768"/>
                  </a:cubicBezTo>
                  <a:lnTo>
                    <a:pt x="2297033" y="166307"/>
                  </a:lnTo>
                  <a:cubicBezTo>
                    <a:pt x="2297033" y="189849"/>
                    <a:pt x="2287681" y="212428"/>
                    <a:pt x="2271034" y="229075"/>
                  </a:cubicBezTo>
                  <a:cubicBezTo>
                    <a:pt x="2254387" y="245722"/>
                    <a:pt x="2231808" y="255074"/>
                    <a:pt x="2208266" y="255074"/>
                  </a:cubicBezTo>
                  <a:lnTo>
                    <a:pt x="88768" y="255074"/>
                  </a:lnTo>
                  <a:cubicBezTo>
                    <a:pt x="65225" y="255074"/>
                    <a:pt x="42647" y="245722"/>
                    <a:pt x="25999" y="229075"/>
                  </a:cubicBezTo>
                  <a:cubicBezTo>
                    <a:pt x="9352" y="212428"/>
                    <a:pt x="0" y="189849"/>
                    <a:pt x="0" y="166307"/>
                  </a:cubicBezTo>
                  <a:lnTo>
                    <a:pt x="0" y="88768"/>
                  </a:lnTo>
                  <a:cubicBezTo>
                    <a:pt x="0" y="65225"/>
                    <a:pt x="9352" y="42647"/>
                    <a:pt x="25999" y="25999"/>
                  </a:cubicBezTo>
                  <a:cubicBezTo>
                    <a:pt x="42647" y="9352"/>
                    <a:pt x="65225" y="0"/>
                    <a:pt x="88768" y="0"/>
                  </a:cubicBezTo>
                  <a:close/>
                </a:path>
              </a:pathLst>
            </a:custGeom>
            <a:solidFill>
              <a:srgbClr val="FFF9EC"/>
            </a:solidFill>
          </p:spPr>
        </p:sp>
        <p:sp>
          <p:nvSpPr>
            <p:cNvPr id="11" name="TextBox 11"/>
            <p:cNvSpPr txBox="1"/>
            <p:nvPr/>
          </p:nvSpPr>
          <p:spPr>
            <a:xfrm>
              <a:off x="0" y="-28575"/>
              <a:ext cx="2297033" cy="283649"/>
            </a:xfrm>
            <a:prstGeom prst="rect">
              <a:avLst/>
            </a:prstGeom>
          </p:spPr>
          <p:txBody>
            <a:bodyPr lIns="50800" tIns="50800" rIns="50800" bIns="50800" rtlCol="0" anchor="ctr"/>
            <a:lstStyle/>
            <a:p>
              <a:pPr algn="ctr">
                <a:lnSpc>
                  <a:spcPts val="1960"/>
                </a:lnSpc>
              </a:pPr>
              <a:endParaRPr/>
            </a:p>
          </p:txBody>
        </p:sp>
      </p:grpSp>
      <p:sp>
        <p:nvSpPr>
          <p:cNvPr id="12" name="TextBox 12"/>
          <p:cNvSpPr txBox="1"/>
          <p:nvPr/>
        </p:nvSpPr>
        <p:spPr>
          <a:xfrm>
            <a:off x="7710552" y="2007270"/>
            <a:ext cx="11502746" cy="490855"/>
          </a:xfrm>
          <a:prstGeom prst="rect">
            <a:avLst/>
          </a:prstGeom>
        </p:spPr>
        <p:txBody>
          <a:bodyPr lIns="0" tIns="0" rIns="0" bIns="0" rtlCol="0" anchor="t">
            <a:spAutoFit/>
          </a:bodyPr>
          <a:lstStyle/>
          <a:p>
            <a:pPr algn="l">
              <a:lnSpc>
                <a:spcPts val="3919"/>
              </a:lnSpc>
              <a:spcBef>
                <a:spcPct val="0"/>
              </a:spcBef>
            </a:pPr>
            <a:r>
              <a:rPr lang="en-US" sz="2799" spc="-139">
                <a:solidFill>
                  <a:srgbClr val="000000"/>
                </a:solidFill>
                <a:latin typeface="Open Sauce"/>
                <a:ea typeface="Open Sauce"/>
                <a:cs typeface="Open Sauce"/>
                <a:sym typeface="Open Sauce"/>
              </a:rPr>
              <a:t>Sursa: World Bank – World Development Indicators </a:t>
            </a:r>
          </a:p>
        </p:txBody>
      </p:sp>
      <p:grpSp>
        <p:nvGrpSpPr>
          <p:cNvPr id="13" name="Group 13"/>
          <p:cNvGrpSpPr/>
          <p:nvPr/>
        </p:nvGrpSpPr>
        <p:grpSpPr>
          <a:xfrm>
            <a:off x="7305219" y="4006550"/>
            <a:ext cx="10549830" cy="968485"/>
            <a:chOff x="0" y="0"/>
            <a:chExt cx="2778556" cy="255074"/>
          </a:xfrm>
        </p:grpSpPr>
        <p:sp>
          <p:nvSpPr>
            <p:cNvPr id="14" name="Freeform 14"/>
            <p:cNvSpPr/>
            <p:nvPr/>
          </p:nvSpPr>
          <p:spPr>
            <a:xfrm>
              <a:off x="0" y="0"/>
              <a:ext cx="2778556" cy="255074"/>
            </a:xfrm>
            <a:custGeom>
              <a:avLst/>
              <a:gdLst/>
              <a:ahLst/>
              <a:cxnLst/>
              <a:rect l="l" t="t" r="r" b="b"/>
              <a:pathLst>
                <a:path w="2778556" h="255074">
                  <a:moveTo>
                    <a:pt x="73384" y="0"/>
                  </a:moveTo>
                  <a:lnTo>
                    <a:pt x="2705172" y="0"/>
                  </a:lnTo>
                  <a:cubicBezTo>
                    <a:pt x="2724634" y="0"/>
                    <a:pt x="2743300" y="7732"/>
                    <a:pt x="2757062" y="21494"/>
                  </a:cubicBezTo>
                  <a:cubicBezTo>
                    <a:pt x="2770824" y="35256"/>
                    <a:pt x="2778556" y="53922"/>
                    <a:pt x="2778556" y="73384"/>
                  </a:cubicBezTo>
                  <a:lnTo>
                    <a:pt x="2778556" y="181690"/>
                  </a:lnTo>
                  <a:cubicBezTo>
                    <a:pt x="2778556" y="222219"/>
                    <a:pt x="2745701" y="255074"/>
                    <a:pt x="2705172" y="255074"/>
                  </a:cubicBezTo>
                  <a:lnTo>
                    <a:pt x="73384" y="255074"/>
                  </a:lnTo>
                  <a:cubicBezTo>
                    <a:pt x="32855" y="255074"/>
                    <a:pt x="0" y="222219"/>
                    <a:pt x="0" y="181690"/>
                  </a:cubicBezTo>
                  <a:lnTo>
                    <a:pt x="0" y="73384"/>
                  </a:lnTo>
                  <a:cubicBezTo>
                    <a:pt x="0" y="32855"/>
                    <a:pt x="32855" y="0"/>
                    <a:pt x="73384" y="0"/>
                  </a:cubicBezTo>
                  <a:close/>
                </a:path>
              </a:pathLst>
            </a:custGeom>
            <a:solidFill>
              <a:srgbClr val="FFF9EC"/>
            </a:solidFill>
          </p:spPr>
        </p:sp>
        <p:sp>
          <p:nvSpPr>
            <p:cNvPr id="15" name="TextBox 15"/>
            <p:cNvSpPr txBox="1"/>
            <p:nvPr/>
          </p:nvSpPr>
          <p:spPr>
            <a:xfrm>
              <a:off x="0" y="-28575"/>
              <a:ext cx="2778556" cy="283649"/>
            </a:xfrm>
            <a:prstGeom prst="rect">
              <a:avLst/>
            </a:prstGeom>
          </p:spPr>
          <p:txBody>
            <a:bodyPr lIns="50800" tIns="50800" rIns="50800" bIns="50800" rtlCol="0" anchor="ctr"/>
            <a:lstStyle/>
            <a:p>
              <a:pPr algn="ctr">
                <a:lnSpc>
                  <a:spcPts val="1960"/>
                </a:lnSpc>
              </a:pPr>
              <a:endParaRPr/>
            </a:p>
          </p:txBody>
        </p:sp>
      </p:grpSp>
      <p:sp>
        <p:nvSpPr>
          <p:cNvPr id="16" name="TextBox 16"/>
          <p:cNvSpPr txBox="1"/>
          <p:nvPr/>
        </p:nvSpPr>
        <p:spPr>
          <a:xfrm>
            <a:off x="7710552" y="4215556"/>
            <a:ext cx="10078624" cy="490855"/>
          </a:xfrm>
          <a:prstGeom prst="rect">
            <a:avLst/>
          </a:prstGeom>
        </p:spPr>
        <p:txBody>
          <a:bodyPr lIns="0" tIns="0" rIns="0" bIns="0" rtlCol="0" anchor="t">
            <a:spAutoFit/>
          </a:bodyPr>
          <a:lstStyle/>
          <a:p>
            <a:pPr algn="l">
              <a:lnSpc>
                <a:spcPts val="3919"/>
              </a:lnSpc>
              <a:spcBef>
                <a:spcPct val="0"/>
              </a:spcBef>
            </a:pPr>
            <a:r>
              <a:rPr lang="en-US" sz="2799" spc="-139">
                <a:solidFill>
                  <a:srgbClr val="000000"/>
                </a:solidFill>
                <a:latin typeface="Open Sauce"/>
                <a:ea typeface="Open Sauce"/>
                <a:cs typeface="Open Sauce"/>
                <a:sym typeface="Open Sauce"/>
              </a:rPr>
              <a:t>Variabile: Țara (nominal), Anul (numeric), PM2.5 (numeric, µg/m³)</a:t>
            </a:r>
          </a:p>
        </p:txBody>
      </p:sp>
      <p:grpSp>
        <p:nvGrpSpPr>
          <p:cNvPr id="17" name="Group 17"/>
          <p:cNvGrpSpPr/>
          <p:nvPr/>
        </p:nvGrpSpPr>
        <p:grpSpPr>
          <a:xfrm>
            <a:off x="7266964" y="5154289"/>
            <a:ext cx="10293539" cy="1250235"/>
            <a:chOff x="0" y="0"/>
            <a:chExt cx="2711055" cy="329280"/>
          </a:xfrm>
        </p:grpSpPr>
        <p:sp>
          <p:nvSpPr>
            <p:cNvPr id="18" name="Freeform 18"/>
            <p:cNvSpPr/>
            <p:nvPr/>
          </p:nvSpPr>
          <p:spPr>
            <a:xfrm>
              <a:off x="0" y="0"/>
              <a:ext cx="2711055" cy="329280"/>
            </a:xfrm>
            <a:custGeom>
              <a:avLst/>
              <a:gdLst/>
              <a:ahLst/>
              <a:cxnLst/>
              <a:rect l="l" t="t" r="r" b="b"/>
              <a:pathLst>
                <a:path w="2711055" h="329280">
                  <a:moveTo>
                    <a:pt x="75211" y="0"/>
                  </a:moveTo>
                  <a:lnTo>
                    <a:pt x="2635844" y="0"/>
                  </a:lnTo>
                  <a:cubicBezTo>
                    <a:pt x="2655791" y="0"/>
                    <a:pt x="2674922" y="7924"/>
                    <a:pt x="2689027" y="22029"/>
                  </a:cubicBezTo>
                  <a:cubicBezTo>
                    <a:pt x="2703131" y="36134"/>
                    <a:pt x="2711055" y="55264"/>
                    <a:pt x="2711055" y="75211"/>
                  </a:cubicBezTo>
                  <a:lnTo>
                    <a:pt x="2711055" y="254068"/>
                  </a:lnTo>
                  <a:cubicBezTo>
                    <a:pt x="2711055" y="274016"/>
                    <a:pt x="2703131" y="293146"/>
                    <a:pt x="2689027" y="307251"/>
                  </a:cubicBezTo>
                  <a:cubicBezTo>
                    <a:pt x="2674922" y="321356"/>
                    <a:pt x="2655791" y="329280"/>
                    <a:pt x="2635844" y="329280"/>
                  </a:cubicBezTo>
                  <a:lnTo>
                    <a:pt x="75211" y="329280"/>
                  </a:lnTo>
                  <a:cubicBezTo>
                    <a:pt x="33673" y="329280"/>
                    <a:pt x="0" y="295607"/>
                    <a:pt x="0" y="254068"/>
                  </a:cubicBezTo>
                  <a:lnTo>
                    <a:pt x="0" y="75211"/>
                  </a:lnTo>
                  <a:cubicBezTo>
                    <a:pt x="0" y="55264"/>
                    <a:pt x="7924" y="36134"/>
                    <a:pt x="22029" y="22029"/>
                  </a:cubicBezTo>
                  <a:cubicBezTo>
                    <a:pt x="36134" y="7924"/>
                    <a:pt x="55264" y="0"/>
                    <a:pt x="75211" y="0"/>
                  </a:cubicBezTo>
                  <a:close/>
                </a:path>
              </a:pathLst>
            </a:custGeom>
            <a:solidFill>
              <a:srgbClr val="FFF9EC"/>
            </a:solidFill>
          </p:spPr>
        </p:sp>
        <p:sp>
          <p:nvSpPr>
            <p:cNvPr id="19" name="TextBox 19"/>
            <p:cNvSpPr txBox="1"/>
            <p:nvPr/>
          </p:nvSpPr>
          <p:spPr>
            <a:xfrm>
              <a:off x="0" y="-28575"/>
              <a:ext cx="2711055" cy="357855"/>
            </a:xfrm>
            <a:prstGeom prst="rect">
              <a:avLst/>
            </a:prstGeom>
          </p:spPr>
          <p:txBody>
            <a:bodyPr lIns="50800" tIns="50800" rIns="50800" bIns="50800" rtlCol="0" anchor="ctr"/>
            <a:lstStyle/>
            <a:p>
              <a:pPr algn="ctr">
                <a:lnSpc>
                  <a:spcPts val="1960"/>
                </a:lnSpc>
              </a:pPr>
              <a:endParaRPr/>
            </a:p>
          </p:txBody>
        </p:sp>
      </p:grpSp>
      <p:sp>
        <p:nvSpPr>
          <p:cNvPr id="20" name="TextBox 20"/>
          <p:cNvSpPr txBox="1"/>
          <p:nvPr/>
        </p:nvSpPr>
        <p:spPr>
          <a:xfrm>
            <a:off x="7710552" y="5266860"/>
            <a:ext cx="10078624" cy="986155"/>
          </a:xfrm>
          <a:prstGeom prst="rect">
            <a:avLst/>
          </a:prstGeom>
        </p:spPr>
        <p:txBody>
          <a:bodyPr lIns="0" tIns="0" rIns="0" bIns="0" rtlCol="0" anchor="t">
            <a:spAutoFit/>
          </a:bodyPr>
          <a:lstStyle/>
          <a:p>
            <a:pPr algn="l">
              <a:lnSpc>
                <a:spcPts val="3919"/>
              </a:lnSpc>
              <a:spcBef>
                <a:spcPct val="0"/>
              </a:spcBef>
            </a:pPr>
            <a:r>
              <a:rPr lang="en-US" sz="2799" spc="-139">
                <a:solidFill>
                  <a:srgbClr val="000000"/>
                </a:solidFill>
                <a:latin typeface="Open Sauce"/>
                <a:ea typeface="Open Sauce"/>
                <a:cs typeface="Open Sauce"/>
                <a:sym typeface="Open Sauce"/>
              </a:rPr>
              <a:t>Operațiuni de pregătire: verificare și eliminare valori lipsă, corectarea denumirilor țărilor</a:t>
            </a:r>
          </a:p>
        </p:txBody>
      </p:sp>
      <p:grpSp>
        <p:nvGrpSpPr>
          <p:cNvPr id="21" name="Group 21"/>
          <p:cNvGrpSpPr/>
          <p:nvPr/>
        </p:nvGrpSpPr>
        <p:grpSpPr>
          <a:xfrm>
            <a:off x="7266964" y="6611515"/>
            <a:ext cx="10293539" cy="1303241"/>
            <a:chOff x="0" y="0"/>
            <a:chExt cx="2711055" cy="343240"/>
          </a:xfrm>
        </p:grpSpPr>
        <p:sp>
          <p:nvSpPr>
            <p:cNvPr id="22" name="Freeform 22"/>
            <p:cNvSpPr/>
            <p:nvPr/>
          </p:nvSpPr>
          <p:spPr>
            <a:xfrm>
              <a:off x="0" y="0"/>
              <a:ext cx="2711055" cy="343240"/>
            </a:xfrm>
            <a:custGeom>
              <a:avLst/>
              <a:gdLst/>
              <a:ahLst/>
              <a:cxnLst/>
              <a:rect l="l" t="t" r="r" b="b"/>
              <a:pathLst>
                <a:path w="2711055" h="343240">
                  <a:moveTo>
                    <a:pt x="75211" y="0"/>
                  </a:moveTo>
                  <a:lnTo>
                    <a:pt x="2635844" y="0"/>
                  </a:lnTo>
                  <a:cubicBezTo>
                    <a:pt x="2655791" y="0"/>
                    <a:pt x="2674922" y="7924"/>
                    <a:pt x="2689027" y="22029"/>
                  </a:cubicBezTo>
                  <a:cubicBezTo>
                    <a:pt x="2703131" y="36134"/>
                    <a:pt x="2711055" y="55264"/>
                    <a:pt x="2711055" y="75211"/>
                  </a:cubicBezTo>
                  <a:lnTo>
                    <a:pt x="2711055" y="268029"/>
                  </a:lnTo>
                  <a:cubicBezTo>
                    <a:pt x="2711055" y="287976"/>
                    <a:pt x="2703131" y="307107"/>
                    <a:pt x="2689027" y="321211"/>
                  </a:cubicBezTo>
                  <a:cubicBezTo>
                    <a:pt x="2674922" y="335316"/>
                    <a:pt x="2655791" y="343240"/>
                    <a:pt x="2635844" y="343240"/>
                  </a:cubicBezTo>
                  <a:lnTo>
                    <a:pt x="75211" y="343240"/>
                  </a:lnTo>
                  <a:cubicBezTo>
                    <a:pt x="55264" y="343240"/>
                    <a:pt x="36134" y="335316"/>
                    <a:pt x="22029" y="321211"/>
                  </a:cubicBezTo>
                  <a:cubicBezTo>
                    <a:pt x="7924" y="307107"/>
                    <a:pt x="0" y="287976"/>
                    <a:pt x="0" y="268029"/>
                  </a:cubicBezTo>
                  <a:lnTo>
                    <a:pt x="0" y="75211"/>
                  </a:lnTo>
                  <a:cubicBezTo>
                    <a:pt x="0" y="55264"/>
                    <a:pt x="7924" y="36134"/>
                    <a:pt x="22029" y="22029"/>
                  </a:cubicBezTo>
                  <a:cubicBezTo>
                    <a:pt x="36134" y="7924"/>
                    <a:pt x="55264" y="0"/>
                    <a:pt x="75211" y="0"/>
                  </a:cubicBezTo>
                  <a:close/>
                </a:path>
              </a:pathLst>
            </a:custGeom>
            <a:solidFill>
              <a:srgbClr val="FFF9EC"/>
            </a:solidFill>
          </p:spPr>
        </p:sp>
        <p:sp>
          <p:nvSpPr>
            <p:cNvPr id="23" name="TextBox 23"/>
            <p:cNvSpPr txBox="1"/>
            <p:nvPr/>
          </p:nvSpPr>
          <p:spPr>
            <a:xfrm>
              <a:off x="0" y="-28575"/>
              <a:ext cx="2711055" cy="371815"/>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7710552" y="6775998"/>
            <a:ext cx="10078624" cy="986155"/>
          </a:xfrm>
          <a:prstGeom prst="rect">
            <a:avLst/>
          </a:prstGeom>
        </p:spPr>
        <p:txBody>
          <a:bodyPr lIns="0" tIns="0" rIns="0" bIns="0" rtlCol="0" anchor="t">
            <a:spAutoFit/>
          </a:bodyPr>
          <a:lstStyle/>
          <a:p>
            <a:pPr algn="l">
              <a:lnSpc>
                <a:spcPts val="3919"/>
              </a:lnSpc>
              <a:spcBef>
                <a:spcPct val="0"/>
              </a:spcBef>
            </a:pPr>
            <a:r>
              <a:rPr lang="en-US" sz="2799" spc="-139">
                <a:solidFill>
                  <a:srgbClr val="000000"/>
                </a:solidFill>
                <a:latin typeface="Open Sauce"/>
                <a:ea typeface="Open Sauce"/>
                <a:cs typeface="Open Sauce"/>
                <a:sym typeface="Open Sauce"/>
              </a:rPr>
              <a:t>Justificare: asigură consistența și acuratețea analizelor și vizualizărilor</a:t>
            </a:r>
          </a:p>
        </p:txBody>
      </p:sp>
      <p:grpSp>
        <p:nvGrpSpPr>
          <p:cNvPr id="25" name="Group 25"/>
          <p:cNvGrpSpPr/>
          <p:nvPr/>
        </p:nvGrpSpPr>
        <p:grpSpPr>
          <a:xfrm>
            <a:off x="7266964" y="8124305"/>
            <a:ext cx="10293539" cy="1303241"/>
            <a:chOff x="0" y="0"/>
            <a:chExt cx="2711055" cy="343240"/>
          </a:xfrm>
        </p:grpSpPr>
        <p:sp>
          <p:nvSpPr>
            <p:cNvPr id="26" name="Freeform 26"/>
            <p:cNvSpPr/>
            <p:nvPr/>
          </p:nvSpPr>
          <p:spPr>
            <a:xfrm>
              <a:off x="0" y="0"/>
              <a:ext cx="2711055" cy="343240"/>
            </a:xfrm>
            <a:custGeom>
              <a:avLst/>
              <a:gdLst/>
              <a:ahLst/>
              <a:cxnLst/>
              <a:rect l="l" t="t" r="r" b="b"/>
              <a:pathLst>
                <a:path w="2711055" h="343240">
                  <a:moveTo>
                    <a:pt x="75211" y="0"/>
                  </a:moveTo>
                  <a:lnTo>
                    <a:pt x="2635844" y="0"/>
                  </a:lnTo>
                  <a:cubicBezTo>
                    <a:pt x="2655791" y="0"/>
                    <a:pt x="2674922" y="7924"/>
                    <a:pt x="2689027" y="22029"/>
                  </a:cubicBezTo>
                  <a:cubicBezTo>
                    <a:pt x="2703131" y="36134"/>
                    <a:pt x="2711055" y="55264"/>
                    <a:pt x="2711055" y="75211"/>
                  </a:cubicBezTo>
                  <a:lnTo>
                    <a:pt x="2711055" y="268029"/>
                  </a:lnTo>
                  <a:cubicBezTo>
                    <a:pt x="2711055" y="287976"/>
                    <a:pt x="2703131" y="307107"/>
                    <a:pt x="2689027" y="321211"/>
                  </a:cubicBezTo>
                  <a:cubicBezTo>
                    <a:pt x="2674922" y="335316"/>
                    <a:pt x="2655791" y="343240"/>
                    <a:pt x="2635844" y="343240"/>
                  </a:cubicBezTo>
                  <a:lnTo>
                    <a:pt x="75211" y="343240"/>
                  </a:lnTo>
                  <a:cubicBezTo>
                    <a:pt x="55264" y="343240"/>
                    <a:pt x="36134" y="335316"/>
                    <a:pt x="22029" y="321211"/>
                  </a:cubicBezTo>
                  <a:cubicBezTo>
                    <a:pt x="7924" y="307107"/>
                    <a:pt x="0" y="287976"/>
                    <a:pt x="0" y="268029"/>
                  </a:cubicBezTo>
                  <a:lnTo>
                    <a:pt x="0" y="75211"/>
                  </a:lnTo>
                  <a:cubicBezTo>
                    <a:pt x="0" y="55264"/>
                    <a:pt x="7924" y="36134"/>
                    <a:pt x="22029" y="22029"/>
                  </a:cubicBezTo>
                  <a:cubicBezTo>
                    <a:pt x="36134" y="7924"/>
                    <a:pt x="55264" y="0"/>
                    <a:pt x="75211" y="0"/>
                  </a:cubicBezTo>
                  <a:close/>
                </a:path>
              </a:pathLst>
            </a:custGeom>
            <a:solidFill>
              <a:srgbClr val="FFF9EC"/>
            </a:solidFill>
          </p:spPr>
        </p:sp>
        <p:sp>
          <p:nvSpPr>
            <p:cNvPr id="27" name="TextBox 27"/>
            <p:cNvSpPr txBox="1"/>
            <p:nvPr/>
          </p:nvSpPr>
          <p:spPr>
            <a:xfrm>
              <a:off x="0" y="-28575"/>
              <a:ext cx="2711055" cy="371815"/>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7710552" y="8258493"/>
            <a:ext cx="9482874" cy="1251585"/>
          </a:xfrm>
          <a:prstGeom prst="rect">
            <a:avLst/>
          </a:prstGeom>
        </p:spPr>
        <p:txBody>
          <a:bodyPr lIns="0" tIns="0" rIns="0" bIns="0" rtlCol="0" anchor="t">
            <a:spAutoFit/>
          </a:bodyPr>
          <a:lstStyle/>
          <a:p>
            <a:pPr algn="l">
              <a:lnSpc>
                <a:spcPts val="3919"/>
              </a:lnSpc>
            </a:pPr>
            <a:r>
              <a:rPr lang="en-US" sz="2799" spc="-139">
                <a:solidFill>
                  <a:srgbClr val="000000"/>
                </a:solidFill>
                <a:latin typeface="Open Sauce"/>
                <a:ea typeface="Open Sauce"/>
                <a:cs typeface="Open Sauce"/>
                <a:sym typeface="Open Sauce"/>
              </a:rPr>
              <a:t>Modificări: datele nu au fost normalizate; unitatea este µg/m³, comparabilă între țări și ani</a:t>
            </a:r>
          </a:p>
          <a:p>
            <a:pPr algn="l">
              <a:lnSpc>
                <a:spcPts val="1960"/>
              </a:lnSpc>
              <a:spcBef>
                <a:spcPct val="0"/>
              </a:spcBef>
            </a:pPr>
            <a:endParaRPr lang="en-US" sz="2799" spc="-139">
              <a:solidFill>
                <a:srgbClr val="000000"/>
              </a:solidFill>
              <a:latin typeface="Open Sauce"/>
              <a:ea typeface="Open Sauce"/>
              <a:cs typeface="Open Sauce"/>
              <a:sym typeface="Open Sauc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0938" y="399700"/>
            <a:ext cx="8115300" cy="1258000"/>
          </a:xfrm>
          <a:prstGeom prst="rect">
            <a:avLst/>
          </a:prstGeom>
        </p:spPr>
        <p:txBody>
          <a:bodyPr lIns="0" tIns="0" rIns="0" bIns="0" rtlCol="0" anchor="t">
            <a:spAutoFit/>
          </a:bodyPr>
          <a:lstStyle/>
          <a:p>
            <a:pPr algn="l">
              <a:lnSpc>
                <a:spcPts val="9982"/>
              </a:lnSpc>
            </a:pPr>
            <a:r>
              <a:rPr lang="en-US" sz="8318" spc="-665">
                <a:solidFill>
                  <a:srgbClr val="4B3C3D"/>
                </a:solidFill>
                <a:latin typeface="Open Sauce"/>
                <a:ea typeface="Open Sauce"/>
                <a:cs typeface="Open Sauce"/>
                <a:sym typeface="Open Sauce"/>
              </a:rPr>
              <a:t>Grafice utilizate</a:t>
            </a:r>
          </a:p>
        </p:txBody>
      </p:sp>
      <p:grpSp>
        <p:nvGrpSpPr>
          <p:cNvPr id="3" name="Group 3"/>
          <p:cNvGrpSpPr/>
          <p:nvPr/>
        </p:nvGrpSpPr>
        <p:grpSpPr>
          <a:xfrm>
            <a:off x="1028700" y="2400394"/>
            <a:ext cx="4876477" cy="3133139"/>
            <a:chOff x="0" y="0"/>
            <a:chExt cx="1284340" cy="825189"/>
          </a:xfrm>
        </p:grpSpPr>
        <p:sp>
          <p:nvSpPr>
            <p:cNvPr id="4" name="Freeform 4"/>
            <p:cNvSpPr/>
            <p:nvPr/>
          </p:nvSpPr>
          <p:spPr>
            <a:xfrm>
              <a:off x="0" y="0"/>
              <a:ext cx="1284340" cy="825189"/>
            </a:xfrm>
            <a:custGeom>
              <a:avLst/>
              <a:gdLst/>
              <a:ahLst/>
              <a:cxnLst/>
              <a:rect l="l" t="t" r="r" b="b"/>
              <a:pathLst>
                <a:path w="1284340" h="825189">
                  <a:moveTo>
                    <a:pt x="39690" y="0"/>
                  </a:moveTo>
                  <a:lnTo>
                    <a:pt x="1244650" y="0"/>
                  </a:lnTo>
                  <a:cubicBezTo>
                    <a:pt x="1266570" y="0"/>
                    <a:pt x="1284340" y="17770"/>
                    <a:pt x="1284340" y="39690"/>
                  </a:cubicBezTo>
                  <a:lnTo>
                    <a:pt x="1284340" y="785499"/>
                  </a:lnTo>
                  <a:cubicBezTo>
                    <a:pt x="1284340" y="796025"/>
                    <a:pt x="1280158" y="806121"/>
                    <a:pt x="1272715" y="813564"/>
                  </a:cubicBezTo>
                  <a:cubicBezTo>
                    <a:pt x="1265271" y="821007"/>
                    <a:pt x="1255176" y="825189"/>
                    <a:pt x="1244650" y="825189"/>
                  </a:cubicBezTo>
                  <a:lnTo>
                    <a:pt x="39690" y="825189"/>
                  </a:lnTo>
                  <a:cubicBezTo>
                    <a:pt x="29164" y="825189"/>
                    <a:pt x="19068" y="821007"/>
                    <a:pt x="11625" y="813564"/>
                  </a:cubicBezTo>
                  <a:cubicBezTo>
                    <a:pt x="4182" y="806121"/>
                    <a:pt x="0" y="796025"/>
                    <a:pt x="0" y="785499"/>
                  </a:cubicBezTo>
                  <a:lnTo>
                    <a:pt x="0" y="39690"/>
                  </a:lnTo>
                  <a:cubicBezTo>
                    <a:pt x="0" y="17770"/>
                    <a:pt x="17770" y="0"/>
                    <a:pt x="39690" y="0"/>
                  </a:cubicBezTo>
                  <a:close/>
                </a:path>
              </a:pathLst>
            </a:custGeom>
            <a:solidFill>
              <a:srgbClr val="4B3C3D"/>
            </a:solidFill>
          </p:spPr>
        </p:sp>
        <p:sp>
          <p:nvSpPr>
            <p:cNvPr id="5" name="TextBox 5"/>
            <p:cNvSpPr txBox="1"/>
            <p:nvPr/>
          </p:nvSpPr>
          <p:spPr>
            <a:xfrm>
              <a:off x="0" y="-28575"/>
              <a:ext cx="1284340" cy="853764"/>
            </a:xfrm>
            <a:prstGeom prst="rect">
              <a:avLst/>
            </a:prstGeom>
          </p:spPr>
          <p:txBody>
            <a:bodyPr lIns="50800" tIns="50800" rIns="50800" bIns="50800" rtlCol="0" anchor="ctr"/>
            <a:lstStyle/>
            <a:p>
              <a:pPr algn="ctr">
                <a:lnSpc>
                  <a:spcPts val="1960"/>
                </a:lnSpc>
              </a:pPr>
              <a:endParaRPr/>
            </a:p>
          </p:txBody>
        </p:sp>
      </p:grpSp>
      <p:sp>
        <p:nvSpPr>
          <p:cNvPr id="6" name="TextBox 6"/>
          <p:cNvSpPr txBox="1"/>
          <p:nvPr/>
        </p:nvSpPr>
        <p:spPr>
          <a:xfrm>
            <a:off x="9770561" y="2072582"/>
            <a:ext cx="6891974" cy="736163"/>
          </a:xfrm>
          <a:prstGeom prst="rect">
            <a:avLst/>
          </a:prstGeom>
        </p:spPr>
        <p:txBody>
          <a:bodyPr lIns="0" tIns="0" rIns="0" bIns="0" rtlCol="0" anchor="t">
            <a:spAutoFit/>
          </a:bodyPr>
          <a:lstStyle/>
          <a:p>
            <a:pPr algn="l">
              <a:lnSpc>
                <a:spcPts val="1960"/>
              </a:lnSpc>
              <a:spcBef>
                <a:spcPct val="0"/>
              </a:spcBef>
            </a:pPr>
            <a:r>
              <a:rPr lang="en-US" sz="1400" spc="-70">
                <a:solidFill>
                  <a:srgbClr val="FFFFFF"/>
                </a:solidFill>
                <a:latin typeface="Open Sauce"/>
                <a:ea typeface="Open Sauce"/>
                <a:cs typeface="Open Sauce"/>
                <a:sym typeface="Open Sauce"/>
              </a:rPr>
              <a:t>Greenhouse gases such as carbon dioxide and methane contribute to global warming by trapping heat in the atmosphere. This leads to rising temperatures, melting ice caps, rising sea levels, and extreme weather conditions, including heatwaves and hurricanes.</a:t>
            </a:r>
          </a:p>
        </p:txBody>
      </p:sp>
      <p:sp>
        <p:nvSpPr>
          <p:cNvPr id="7" name="TextBox 7"/>
          <p:cNvSpPr txBox="1"/>
          <p:nvPr/>
        </p:nvSpPr>
        <p:spPr>
          <a:xfrm>
            <a:off x="9770561" y="1679451"/>
            <a:ext cx="6891974" cy="240731"/>
          </a:xfrm>
          <a:prstGeom prst="rect">
            <a:avLst/>
          </a:prstGeom>
        </p:spPr>
        <p:txBody>
          <a:bodyPr lIns="0" tIns="0" rIns="0" bIns="0" rtlCol="0" anchor="t">
            <a:spAutoFit/>
          </a:bodyPr>
          <a:lstStyle/>
          <a:p>
            <a:pPr algn="l">
              <a:lnSpc>
                <a:spcPts val="1960"/>
              </a:lnSpc>
              <a:spcBef>
                <a:spcPct val="0"/>
              </a:spcBef>
            </a:pPr>
            <a:r>
              <a:rPr lang="en-US" sz="1400" spc="-70">
                <a:solidFill>
                  <a:srgbClr val="FFFFFF"/>
                </a:solidFill>
                <a:latin typeface="Open Sauce"/>
                <a:ea typeface="Open Sauce"/>
                <a:cs typeface="Open Sauce"/>
                <a:sym typeface="Open Sauce"/>
              </a:rPr>
              <a:t>Climate Change</a:t>
            </a:r>
          </a:p>
        </p:txBody>
      </p:sp>
      <p:grpSp>
        <p:nvGrpSpPr>
          <p:cNvPr id="8" name="Group 8"/>
          <p:cNvGrpSpPr/>
          <p:nvPr/>
        </p:nvGrpSpPr>
        <p:grpSpPr>
          <a:xfrm>
            <a:off x="1028700" y="6142021"/>
            <a:ext cx="4876477" cy="3116279"/>
            <a:chOff x="0" y="0"/>
            <a:chExt cx="1284340" cy="820748"/>
          </a:xfrm>
        </p:grpSpPr>
        <p:sp>
          <p:nvSpPr>
            <p:cNvPr id="9" name="Freeform 9"/>
            <p:cNvSpPr/>
            <p:nvPr/>
          </p:nvSpPr>
          <p:spPr>
            <a:xfrm>
              <a:off x="0" y="0"/>
              <a:ext cx="1284340" cy="820748"/>
            </a:xfrm>
            <a:custGeom>
              <a:avLst/>
              <a:gdLst/>
              <a:ahLst/>
              <a:cxnLst/>
              <a:rect l="l" t="t" r="r" b="b"/>
              <a:pathLst>
                <a:path w="1284340" h="820748">
                  <a:moveTo>
                    <a:pt x="39690" y="0"/>
                  </a:moveTo>
                  <a:lnTo>
                    <a:pt x="1244650" y="0"/>
                  </a:lnTo>
                  <a:cubicBezTo>
                    <a:pt x="1266570" y="0"/>
                    <a:pt x="1284340" y="17770"/>
                    <a:pt x="1284340" y="39690"/>
                  </a:cubicBezTo>
                  <a:lnTo>
                    <a:pt x="1284340" y="781058"/>
                  </a:lnTo>
                  <a:cubicBezTo>
                    <a:pt x="1284340" y="791585"/>
                    <a:pt x="1280158" y="801680"/>
                    <a:pt x="1272715" y="809123"/>
                  </a:cubicBezTo>
                  <a:cubicBezTo>
                    <a:pt x="1265271" y="816567"/>
                    <a:pt x="1255176" y="820748"/>
                    <a:pt x="1244650" y="820748"/>
                  </a:cubicBezTo>
                  <a:lnTo>
                    <a:pt x="39690" y="820748"/>
                  </a:lnTo>
                  <a:cubicBezTo>
                    <a:pt x="29164" y="820748"/>
                    <a:pt x="19068" y="816567"/>
                    <a:pt x="11625" y="809123"/>
                  </a:cubicBezTo>
                  <a:cubicBezTo>
                    <a:pt x="4182" y="801680"/>
                    <a:pt x="0" y="791585"/>
                    <a:pt x="0" y="781058"/>
                  </a:cubicBezTo>
                  <a:lnTo>
                    <a:pt x="0" y="39690"/>
                  </a:lnTo>
                  <a:cubicBezTo>
                    <a:pt x="0" y="17770"/>
                    <a:pt x="17770" y="0"/>
                    <a:pt x="39690" y="0"/>
                  </a:cubicBezTo>
                  <a:close/>
                </a:path>
              </a:pathLst>
            </a:custGeom>
            <a:solidFill>
              <a:srgbClr val="4B3C3D"/>
            </a:solidFill>
          </p:spPr>
        </p:sp>
        <p:sp>
          <p:nvSpPr>
            <p:cNvPr id="10" name="TextBox 10"/>
            <p:cNvSpPr txBox="1"/>
            <p:nvPr/>
          </p:nvSpPr>
          <p:spPr>
            <a:xfrm>
              <a:off x="0" y="-28575"/>
              <a:ext cx="1284340" cy="849323"/>
            </a:xfrm>
            <a:prstGeom prst="rect">
              <a:avLst/>
            </a:prstGeom>
          </p:spPr>
          <p:txBody>
            <a:bodyPr lIns="50800" tIns="50800" rIns="50800" bIns="50800" rtlCol="0" anchor="ctr"/>
            <a:lstStyle/>
            <a:p>
              <a:pPr algn="ctr">
                <a:lnSpc>
                  <a:spcPts val="1960"/>
                </a:lnSpc>
              </a:pPr>
              <a:endParaRPr/>
            </a:p>
          </p:txBody>
        </p:sp>
      </p:grpSp>
      <p:sp>
        <p:nvSpPr>
          <p:cNvPr id="11" name="TextBox 11"/>
          <p:cNvSpPr txBox="1"/>
          <p:nvPr/>
        </p:nvSpPr>
        <p:spPr>
          <a:xfrm>
            <a:off x="9770561" y="7951750"/>
            <a:ext cx="6891974" cy="736163"/>
          </a:xfrm>
          <a:prstGeom prst="rect">
            <a:avLst/>
          </a:prstGeom>
        </p:spPr>
        <p:txBody>
          <a:bodyPr lIns="0" tIns="0" rIns="0" bIns="0" rtlCol="0" anchor="t">
            <a:spAutoFit/>
          </a:bodyPr>
          <a:lstStyle/>
          <a:p>
            <a:pPr algn="l">
              <a:lnSpc>
                <a:spcPts val="1960"/>
              </a:lnSpc>
              <a:spcBef>
                <a:spcPct val="0"/>
              </a:spcBef>
            </a:pPr>
            <a:r>
              <a:rPr lang="en-US" sz="1400" spc="-70">
                <a:solidFill>
                  <a:srgbClr val="FFFFFF"/>
                </a:solidFill>
                <a:latin typeface="Open Sauce"/>
                <a:ea typeface="Open Sauce"/>
                <a:cs typeface="Open Sauce"/>
                <a:sym typeface="Open Sauce"/>
              </a:rPr>
              <a:t>Pollutants like heavy metals and pesticides accumulate in the environment, disrupting food chains and affecting wildlife health. Poor air quality stunts plant growth, reducing biodiversity and agricultural output.</a:t>
            </a:r>
          </a:p>
        </p:txBody>
      </p:sp>
      <p:sp>
        <p:nvSpPr>
          <p:cNvPr id="12" name="TextBox 12"/>
          <p:cNvSpPr txBox="1"/>
          <p:nvPr/>
        </p:nvSpPr>
        <p:spPr>
          <a:xfrm>
            <a:off x="9770561" y="7558619"/>
            <a:ext cx="6891974" cy="240731"/>
          </a:xfrm>
          <a:prstGeom prst="rect">
            <a:avLst/>
          </a:prstGeom>
        </p:spPr>
        <p:txBody>
          <a:bodyPr lIns="0" tIns="0" rIns="0" bIns="0" rtlCol="0" anchor="t">
            <a:spAutoFit/>
          </a:bodyPr>
          <a:lstStyle/>
          <a:p>
            <a:pPr algn="l">
              <a:lnSpc>
                <a:spcPts val="1960"/>
              </a:lnSpc>
              <a:spcBef>
                <a:spcPct val="0"/>
              </a:spcBef>
            </a:pPr>
            <a:r>
              <a:rPr lang="en-US" sz="1400" spc="-70">
                <a:solidFill>
                  <a:srgbClr val="FFFFFF"/>
                </a:solidFill>
                <a:latin typeface="Open Sauce"/>
                <a:ea typeface="Open Sauce"/>
                <a:cs typeface="Open Sauce"/>
                <a:sym typeface="Open Sauce"/>
              </a:rPr>
              <a:t>Ecosystem Disruption</a:t>
            </a:r>
          </a:p>
        </p:txBody>
      </p:sp>
      <p:grpSp>
        <p:nvGrpSpPr>
          <p:cNvPr id="13" name="Group 13"/>
          <p:cNvGrpSpPr/>
          <p:nvPr/>
        </p:nvGrpSpPr>
        <p:grpSpPr>
          <a:xfrm>
            <a:off x="6603129" y="2454951"/>
            <a:ext cx="5081741" cy="3078582"/>
            <a:chOff x="0" y="0"/>
            <a:chExt cx="1338401" cy="810820"/>
          </a:xfrm>
        </p:grpSpPr>
        <p:sp>
          <p:nvSpPr>
            <p:cNvPr id="14" name="Freeform 14"/>
            <p:cNvSpPr/>
            <p:nvPr/>
          </p:nvSpPr>
          <p:spPr>
            <a:xfrm>
              <a:off x="0" y="0"/>
              <a:ext cx="1338401" cy="810820"/>
            </a:xfrm>
            <a:custGeom>
              <a:avLst/>
              <a:gdLst/>
              <a:ahLst/>
              <a:cxnLst/>
              <a:rect l="l" t="t" r="r" b="b"/>
              <a:pathLst>
                <a:path w="1338401" h="810820">
                  <a:moveTo>
                    <a:pt x="38087" y="0"/>
                  </a:moveTo>
                  <a:lnTo>
                    <a:pt x="1300314" y="0"/>
                  </a:lnTo>
                  <a:cubicBezTo>
                    <a:pt x="1321349" y="0"/>
                    <a:pt x="1338401" y="17052"/>
                    <a:pt x="1338401" y="38087"/>
                  </a:cubicBezTo>
                  <a:lnTo>
                    <a:pt x="1338401" y="772733"/>
                  </a:lnTo>
                  <a:cubicBezTo>
                    <a:pt x="1338401" y="782834"/>
                    <a:pt x="1334388" y="792522"/>
                    <a:pt x="1327246" y="799665"/>
                  </a:cubicBezTo>
                  <a:cubicBezTo>
                    <a:pt x="1320103" y="806807"/>
                    <a:pt x="1310415" y="810820"/>
                    <a:pt x="1300314" y="810820"/>
                  </a:cubicBezTo>
                  <a:lnTo>
                    <a:pt x="38087" y="810820"/>
                  </a:lnTo>
                  <a:cubicBezTo>
                    <a:pt x="27986" y="810820"/>
                    <a:pt x="18298" y="806807"/>
                    <a:pt x="11155" y="799665"/>
                  </a:cubicBezTo>
                  <a:cubicBezTo>
                    <a:pt x="4013" y="792522"/>
                    <a:pt x="0" y="782834"/>
                    <a:pt x="0" y="772733"/>
                  </a:cubicBezTo>
                  <a:lnTo>
                    <a:pt x="0" y="38087"/>
                  </a:lnTo>
                  <a:cubicBezTo>
                    <a:pt x="0" y="27986"/>
                    <a:pt x="4013" y="18298"/>
                    <a:pt x="11155" y="11155"/>
                  </a:cubicBezTo>
                  <a:cubicBezTo>
                    <a:pt x="18298" y="4013"/>
                    <a:pt x="27986" y="0"/>
                    <a:pt x="38087" y="0"/>
                  </a:cubicBezTo>
                  <a:close/>
                </a:path>
              </a:pathLst>
            </a:custGeom>
            <a:solidFill>
              <a:srgbClr val="DBD2D2"/>
            </a:solidFill>
          </p:spPr>
        </p:sp>
        <p:sp>
          <p:nvSpPr>
            <p:cNvPr id="15" name="TextBox 15"/>
            <p:cNvSpPr txBox="1"/>
            <p:nvPr/>
          </p:nvSpPr>
          <p:spPr>
            <a:xfrm>
              <a:off x="0" y="-28575"/>
              <a:ext cx="1338401" cy="839395"/>
            </a:xfrm>
            <a:prstGeom prst="rect">
              <a:avLst/>
            </a:prstGeom>
          </p:spPr>
          <p:txBody>
            <a:bodyPr lIns="50800" tIns="50800" rIns="50800" bIns="50800" rtlCol="0" anchor="ctr"/>
            <a:lstStyle/>
            <a:p>
              <a:pPr algn="ctr">
                <a:lnSpc>
                  <a:spcPts val="1960"/>
                </a:lnSpc>
              </a:pPr>
              <a:endParaRPr/>
            </a:p>
          </p:txBody>
        </p:sp>
      </p:grpSp>
      <p:sp>
        <p:nvSpPr>
          <p:cNvPr id="16" name="TextBox 16"/>
          <p:cNvSpPr txBox="1"/>
          <p:nvPr/>
        </p:nvSpPr>
        <p:spPr>
          <a:xfrm>
            <a:off x="1739536" y="3433537"/>
            <a:ext cx="3454804" cy="1028701"/>
          </a:xfrm>
          <a:prstGeom prst="rect">
            <a:avLst/>
          </a:prstGeom>
        </p:spPr>
        <p:txBody>
          <a:bodyPr lIns="0" tIns="0" rIns="0" bIns="0" rtlCol="0" anchor="t">
            <a:spAutoFit/>
          </a:bodyPr>
          <a:lstStyle/>
          <a:p>
            <a:pPr algn="ctr">
              <a:lnSpc>
                <a:spcPts val="4199"/>
              </a:lnSpc>
            </a:pPr>
            <a:r>
              <a:rPr lang="en-US" sz="2999" spc="-149">
                <a:solidFill>
                  <a:srgbClr val="FFFFFF"/>
                </a:solidFill>
                <a:latin typeface="Open Sauce"/>
                <a:ea typeface="Open Sauce"/>
                <a:cs typeface="Open Sauce"/>
                <a:sym typeface="Open Sauce"/>
              </a:rPr>
              <a:t>Analiza globală a valorilor țărilor</a:t>
            </a:r>
          </a:p>
        </p:txBody>
      </p:sp>
      <p:sp>
        <p:nvSpPr>
          <p:cNvPr id="17" name="TextBox 17"/>
          <p:cNvSpPr txBox="1"/>
          <p:nvPr/>
        </p:nvSpPr>
        <p:spPr>
          <a:xfrm>
            <a:off x="2299975" y="2699477"/>
            <a:ext cx="2642421" cy="455296"/>
          </a:xfrm>
          <a:prstGeom prst="rect">
            <a:avLst/>
          </a:prstGeom>
        </p:spPr>
        <p:txBody>
          <a:bodyPr lIns="0" tIns="0" rIns="0" bIns="0" rtlCol="0" anchor="t">
            <a:spAutoFit/>
          </a:bodyPr>
          <a:lstStyle/>
          <a:p>
            <a:pPr algn="l">
              <a:lnSpc>
                <a:spcPts val="3779"/>
              </a:lnSpc>
              <a:spcBef>
                <a:spcPct val="0"/>
              </a:spcBef>
            </a:pPr>
            <a:r>
              <a:rPr lang="en-US" sz="2699" b="1" spc="-134">
                <a:solidFill>
                  <a:srgbClr val="FFFFFF"/>
                </a:solidFill>
                <a:latin typeface="Open Sauce Bold"/>
                <a:ea typeface="Open Sauce Bold"/>
                <a:cs typeface="Open Sauce Bold"/>
                <a:sym typeface="Open Sauce Bold"/>
              </a:rPr>
              <a:t>Hartă Dinamică</a:t>
            </a:r>
          </a:p>
        </p:txBody>
      </p:sp>
      <p:grpSp>
        <p:nvGrpSpPr>
          <p:cNvPr id="18" name="Group 18"/>
          <p:cNvGrpSpPr/>
          <p:nvPr/>
        </p:nvGrpSpPr>
        <p:grpSpPr>
          <a:xfrm>
            <a:off x="6576774" y="6228541"/>
            <a:ext cx="5008610" cy="3029759"/>
            <a:chOff x="0" y="0"/>
            <a:chExt cx="1319140" cy="797961"/>
          </a:xfrm>
        </p:grpSpPr>
        <p:sp>
          <p:nvSpPr>
            <p:cNvPr id="19" name="Freeform 19"/>
            <p:cNvSpPr/>
            <p:nvPr/>
          </p:nvSpPr>
          <p:spPr>
            <a:xfrm>
              <a:off x="0" y="0"/>
              <a:ext cx="1319140" cy="797961"/>
            </a:xfrm>
            <a:custGeom>
              <a:avLst/>
              <a:gdLst/>
              <a:ahLst/>
              <a:cxnLst/>
              <a:rect l="l" t="t" r="r" b="b"/>
              <a:pathLst>
                <a:path w="1319140" h="797961">
                  <a:moveTo>
                    <a:pt x="38643" y="0"/>
                  </a:moveTo>
                  <a:lnTo>
                    <a:pt x="1280497" y="0"/>
                  </a:lnTo>
                  <a:cubicBezTo>
                    <a:pt x="1301839" y="0"/>
                    <a:pt x="1319140" y="17301"/>
                    <a:pt x="1319140" y="38643"/>
                  </a:cubicBezTo>
                  <a:lnTo>
                    <a:pt x="1319140" y="759318"/>
                  </a:lnTo>
                  <a:cubicBezTo>
                    <a:pt x="1319140" y="769567"/>
                    <a:pt x="1315069" y="779396"/>
                    <a:pt x="1307822" y="786643"/>
                  </a:cubicBezTo>
                  <a:cubicBezTo>
                    <a:pt x="1300575" y="793890"/>
                    <a:pt x="1290746" y="797961"/>
                    <a:pt x="1280497" y="797961"/>
                  </a:cubicBezTo>
                  <a:lnTo>
                    <a:pt x="38643" y="797961"/>
                  </a:lnTo>
                  <a:cubicBezTo>
                    <a:pt x="28394" y="797961"/>
                    <a:pt x="18565" y="793890"/>
                    <a:pt x="11318" y="786643"/>
                  </a:cubicBezTo>
                  <a:cubicBezTo>
                    <a:pt x="4071" y="779396"/>
                    <a:pt x="0" y="769567"/>
                    <a:pt x="0" y="759318"/>
                  </a:cubicBezTo>
                  <a:lnTo>
                    <a:pt x="0" y="38643"/>
                  </a:lnTo>
                  <a:cubicBezTo>
                    <a:pt x="0" y="28394"/>
                    <a:pt x="4071" y="18565"/>
                    <a:pt x="11318" y="11318"/>
                  </a:cubicBezTo>
                  <a:cubicBezTo>
                    <a:pt x="18565" y="4071"/>
                    <a:pt x="28394" y="0"/>
                    <a:pt x="38643" y="0"/>
                  </a:cubicBezTo>
                  <a:close/>
                </a:path>
              </a:pathLst>
            </a:custGeom>
            <a:solidFill>
              <a:srgbClr val="DBD2D2"/>
            </a:solidFill>
          </p:spPr>
        </p:sp>
        <p:sp>
          <p:nvSpPr>
            <p:cNvPr id="20" name="TextBox 20"/>
            <p:cNvSpPr txBox="1"/>
            <p:nvPr/>
          </p:nvSpPr>
          <p:spPr>
            <a:xfrm>
              <a:off x="0" y="-28575"/>
              <a:ext cx="1319140" cy="826536"/>
            </a:xfrm>
            <a:prstGeom prst="rect">
              <a:avLst/>
            </a:prstGeom>
          </p:spPr>
          <p:txBody>
            <a:bodyPr lIns="50800" tIns="50800" rIns="50800" bIns="50800" rtlCol="0" anchor="ctr"/>
            <a:lstStyle/>
            <a:p>
              <a:pPr algn="ctr">
                <a:lnSpc>
                  <a:spcPts val="1960"/>
                </a:lnSpc>
              </a:pPr>
              <a:endParaRPr/>
            </a:p>
          </p:txBody>
        </p:sp>
      </p:grpSp>
      <p:sp>
        <p:nvSpPr>
          <p:cNvPr id="21" name="TextBox 21"/>
          <p:cNvSpPr txBox="1"/>
          <p:nvPr/>
        </p:nvSpPr>
        <p:spPr>
          <a:xfrm>
            <a:off x="1554768" y="6438408"/>
            <a:ext cx="4155231" cy="422275"/>
          </a:xfrm>
          <a:prstGeom prst="rect">
            <a:avLst/>
          </a:prstGeom>
        </p:spPr>
        <p:txBody>
          <a:bodyPr lIns="0" tIns="0" rIns="0" bIns="0" rtlCol="0" anchor="t">
            <a:spAutoFit/>
          </a:bodyPr>
          <a:lstStyle/>
          <a:p>
            <a:pPr algn="l">
              <a:lnSpc>
                <a:spcPts val="3499"/>
              </a:lnSpc>
              <a:spcBef>
                <a:spcPct val="0"/>
              </a:spcBef>
            </a:pPr>
            <a:r>
              <a:rPr lang="en-US" sz="2499" b="1" spc="-124">
                <a:solidFill>
                  <a:srgbClr val="FFFFFF"/>
                </a:solidFill>
                <a:latin typeface="Open Sauce Bold"/>
                <a:ea typeface="Open Sauce Bold"/>
                <a:cs typeface="Open Sauce Bold"/>
                <a:sym typeface="Open Sauce Bold"/>
              </a:rPr>
              <a:t>Statistică descriptivă - BAN</a:t>
            </a:r>
          </a:p>
        </p:txBody>
      </p:sp>
      <p:sp>
        <p:nvSpPr>
          <p:cNvPr id="22" name="TextBox 22"/>
          <p:cNvSpPr txBox="1"/>
          <p:nvPr/>
        </p:nvSpPr>
        <p:spPr>
          <a:xfrm>
            <a:off x="7621825" y="2699477"/>
            <a:ext cx="2918508" cy="455296"/>
          </a:xfrm>
          <a:prstGeom prst="rect">
            <a:avLst/>
          </a:prstGeom>
        </p:spPr>
        <p:txBody>
          <a:bodyPr lIns="0" tIns="0" rIns="0" bIns="0" rtlCol="0" anchor="t">
            <a:spAutoFit/>
          </a:bodyPr>
          <a:lstStyle/>
          <a:p>
            <a:pPr algn="l">
              <a:lnSpc>
                <a:spcPts val="3779"/>
              </a:lnSpc>
              <a:spcBef>
                <a:spcPct val="0"/>
              </a:spcBef>
            </a:pPr>
            <a:r>
              <a:rPr lang="en-US" sz="2699" b="1" spc="-134">
                <a:solidFill>
                  <a:srgbClr val="111111"/>
                </a:solidFill>
                <a:latin typeface="Open Sauce Bold"/>
                <a:ea typeface="Open Sauce Bold"/>
                <a:cs typeface="Open Sauce Bold"/>
                <a:sym typeface="Open Sauce Bold"/>
              </a:rPr>
              <a:t>Hartă Continentală</a:t>
            </a:r>
          </a:p>
        </p:txBody>
      </p:sp>
      <p:sp>
        <p:nvSpPr>
          <p:cNvPr id="23" name="TextBox 23"/>
          <p:cNvSpPr txBox="1"/>
          <p:nvPr/>
        </p:nvSpPr>
        <p:spPr>
          <a:xfrm>
            <a:off x="8243441" y="6438408"/>
            <a:ext cx="1675276" cy="455296"/>
          </a:xfrm>
          <a:prstGeom prst="rect">
            <a:avLst/>
          </a:prstGeom>
        </p:spPr>
        <p:txBody>
          <a:bodyPr lIns="0" tIns="0" rIns="0" bIns="0" rtlCol="0" anchor="t">
            <a:spAutoFit/>
          </a:bodyPr>
          <a:lstStyle/>
          <a:p>
            <a:pPr algn="l">
              <a:lnSpc>
                <a:spcPts val="3779"/>
              </a:lnSpc>
              <a:spcBef>
                <a:spcPct val="0"/>
              </a:spcBef>
            </a:pPr>
            <a:r>
              <a:rPr lang="en-US" sz="2699" b="1" spc="-134">
                <a:solidFill>
                  <a:srgbClr val="000000"/>
                </a:solidFill>
                <a:latin typeface="Open Sauce Bold"/>
                <a:ea typeface="Open Sauce Bold"/>
                <a:cs typeface="Open Sauce Bold"/>
                <a:sym typeface="Open Sauce Bold"/>
              </a:rPr>
              <a:t>Line Chart</a:t>
            </a:r>
          </a:p>
        </p:txBody>
      </p:sp>
      <p:grpSp>
        <p:nvGrpSpPr>
          <p:cNvPr id="24" name="Group 24"/>
          <p:cNvGrpSpPr/>
          <p:nvPr/>
        </p:nvGrpSpPr>
        <p:grpSpPr>
          <a:xfrm>
            <a:off x="12380196" y="2454951"/>
            <a:ext cx="4879104" cy="3078582"/>
            <a:chOff x="0" y="0"/>
            <a:chExt cx="1285032" cy="810820"/>
          </a:xfrm>
        </p:grpSpPr>
        <p:sp>
          <p:nvSpPr>
            <p:cNvPr id="25" name="Freeform 25"/>
            <p:cNvSpPr/>
            <p:nvPr/>
          </p:nvSpPr>
          <p:spPr>
            <a:xfrm>
              <a:off x="0" y="0"/>
              <a:ext cx="1285032" cy="810820"/>
            </a:xfrm>
            <a:custGeom>
              <a:avLst/>
              <a:gdLst/>
              <a:ahLst/>
              <a:cxnLst/>
              <a:rect l="l" t="t" r="r" b="b"/>
              <a:pathLst>
                <a:path w="1285032" h="810820">
                  <a:moveTo>
                    <a:pt x="39669" y="0"/>
                  </a:moveTo>
                  <a:lnTo>
                    <a:pt x="1245363" y="0"/>
                  </a:lnTo>
                  <a:cubicBezTo>
                    <a:pt x="1255884" y="0"/>
                    <a:pt x="1265974" y="4179"/>
                    <a:pt x="1273413" y="11619"/>
                  </a:cubicBezTo>
                  <a:cubicBezTo>
                    <a:pt x="1280852" y="19058"/>
                    <a:pt x="1285032" y="29148"/>
                    <a:pt x="1285032" y="39669"/>
                  </a:cubicBezTo>
                  <a:lnTo>
                    <a:pt x="1285032" y="771151"/>
                  </a:lnTo>
                  <a:cubicBezTo>
                    <a:pt x="1285032" y="793060"/>
                    <a:pt x="1267271" y="810820"/>
                    <a:pt x="1245363" y="810820"/>
                  </a:cubicBezTo>
                  <a:lnTo>
                    <a:pt x="39669" y="810820"/>
                  </a:lnTo>
                  <a:cubicBezTo>
                    <a:pt x="29148" y="810820"/>
                    <a:pt x="19058" y="806641"/>
                    <a:pt x="11619" y="799201"/>
                  </a:cubicBezTo>
                  <a:cubicBezTo>
                    <a:pt x="4179" y="791762"/>
                    <a:pt x="0" y="781672"/>
                    <a:pt x="0" y="771151"/>
                  </a:cubicBezTo>
                  <a:lnTo>
                    <a:pt x="0" y="39669"/>
                  </a:lnTo>
                  <a:cubicBezTo>
                    <a:pt x="0" y="29148"/>
                    <a:pt x="4179" y="19058"/>
                    <a:pt x="11619" y="11619"/>
                  </a:cubicBezTo>
                  <a:cubicBezTo>
                    <a:pt x="19058" y="4179"/>
                    <a:pt x="29148" y="0"/>
                    <a:pt x="39669" y="0"/>
                  </a:cubicBezTo>
                  <a:close/>
                </a:path>
              </a:pathLst>
            </a:custGeom>
            <a:solidFill>
              <a:srgbClr val="4B3C3D"/>
            </a:solidFill>
          </p:spPr>
        </p:sp>
        <p:sp>
          <p:nvSpPr>
            <p:cNvPr id="26" name="TextBox 26"/>
            <p:cNvSpPr txBox="1"/>
            <p:nvPr/>
          </p:nvSpPr>
          <p:spPr>
            <a:xfrm>
              <a:off x="0" y="-28575"/>
              <a:ext cx="1285032" cy="839395"/>
            </a:xfrm>
            <a:prstGeom prst="rect">
              <a:avLst/>
            </a:prstGeom>
          </p:spPr>
          <p:txBody>
            <a:bodyPr lIns="50800" tIns="50800" rIns="50800" bIns="50800" rtlCol="0" anchor="ctr"/>
            <a:lstStyle/>
            <a:p>
              <a:pPr algn="ctr">
                <a:lnSpc>
                  <a:spcPts val="1960"/>
                </a:lnSpc>
              </a:pPr>
              <a:endParaRPr/>
            </a:p>
          </p:txBody>
        </p:sp>
      </p:grpSp>
      <p:grpSp>
        <p:nvGrpSpPr>
          <p:cNvPr id="27" name="Group 27"/>
          <p:cNvGrpSpPr/>
          <p:nvPr/>
        </p:nvGrpSpPr>
        <p:grpSpPr>
          <a:xfrm>
            <a:off x="12456396" y="6228541"/>
            <a:ext cx="4877570" cy="3029759"/>
            <a:chOff x="0" y="0"/>
            <a:chExt cx="1284628" cy="797961"/>
          </a:xfrm>
        </p:grpSpPr>
        <p:sp>
          <p:nvSpPr>
            <p:cNvPr id="28" name="Freeform 28"/>
            <p:cNvSpPr/>
            <p:nvPr/>
          </p:nvSpPr>
          <p:spPr>
            <a:xfrm>
              <a:off x="0" y="0"/>
              <a:ext cx="1284627" cy="797961"/>
            </a:xfrm>
            <a:custGeom>
              <a:avLst/>
              <a:gdLst/>
              <a:ahLst/>
              <a:cxnLst/>
              <a:rect l="l" t="t" r="r" b="b"/>
              <a:pathLst>
                <a:path w="1284627" h="797961">
                  <a:moveTo>
                    <a:pt x="39681" y="0"/>
                  </a:moveTo>
                  <a:lnTo>
                    <a:pt x="1244946" y="0"/>
                  </a:lnTo>
                  <a:cubicBezTo>
                    <a:pt x="1266862" y="0"/>
                    <a:pt x="1284627" y="17766"/>
                    <a:pt x="1284627" y="39681"/>
                  </a:cubicBezTo>
                  <a:lnTo>
                    <a:pt x="1284627" y="758280"/>
                  </a:lnTo>
                  <a:cubicBezTo>
                    <a:pt x="1284627" y="780195"/>
                    <a:pt x="1266862" y="797961"/>
                    <a:pt x="1244946" y="797961"/>
                  </a:cubicBezTo>
                  <a:lnTo>
                    <a:pt x="39681" y="797961"/>
                  </a:lnTo>
                  <a:cubicBezTo>
                    <a:pt x="17766" y="797961"/>
                    <a:pt x="0" y="780195"/>
                    <a:pt x="0" y="758280"/>
                  </a:cubicBezTo>
                  <a:lnTo>
                    <a:pt x="0" y="39681"/>
                  </a:lnTo>
                  <a:cubicBezTo>
                    <a:pt x="0" y="17766"/>
                    <a:pt x="17766" y="0"/>
                    <a:pt x="39681" y="0"/>
                  </a:cubicBezTo>
                  <a:close/>
                </a:path>
              </a:pathLst>
            </a:custGeom>
            <a:solidFill>
              <a:srgbClr val="4B3C3D"/>
            </a:solidFill>
          </p:spPr>
        </p:sp>
        <p:sp>
          <p:nvSpPr>
            <p:cNvPr id="29" name="TextBox 29"/>
            <p:cNvSpPr txBox="1"/>
            <p:nvPr/>
          </p:nvSpPr>
          <p:spPr>
            <a:xfrm>
              <a:off x="0" y="-28575"/>
              <a:ext cx="1284628" cy="826536"/>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4057542" y="6438408"/>
            <a:ext cx="1675276" cy="455296"/>
          </a:xfrm>
          <a:prstGeom prst="rect">
            <a:avLst/>
          </a:prstGeom>
        </p:spPr>
        <p:txBody>
          <a:bodyPr lIns="0" tIns="0" rIns="0" bIns="0" rtlCol="0" anchor="t">
            <a:spAutoFit/>
          </a:bodyPr>
          <a:lstStyle/>
          <a:p>
            <a:pPr algn="ctr">
              <a:lnSpc>
                <a:spcPts val="3779"/>
              </a:lnSpc>
              <a:spcBef>
                <a:spcPct val="0"/>
              </a:spcBef>
            </a:pPr>
            <a:r>
              <a:rPr lang="en-US" sz="2699" b="1" spc="-134">
                <a:solidFill>
                  <a:srgbClr val="FFFFFF"/>
                </a:solidFill>
                <a:latin typeface="Open Sauce Bold"/>
                <a:ea typeface="Open Sauce Bold"/>
                <a:cs typeface="Open Sauce Bold"/>
                <a:sym typeface="Open Sauce Bold"/>
              </a:rPr>
              <a:t>BAN</a:t>
            </a:r>
          </a:p>
        </p:txBody>
      </p:sp>
      <p:sp>
        <p:nvSpPr>
          <p:cNvPr id="31" name="TextBox 31"/>
          <p:cNvSpPr txBox="1"/>
          <p:nvPr/>
        </p:nvSpPr>
        <p:spPr>
          <a:xfrm>
            <a:off x="14057542" y="2699477"/>
            <a:ext cx="1675276" cy="455296"/>
          </a:xfrm>
          <a:prstGeom prst="rect">
            <a:avLst/>
          </a:prstGeom>
        </p:spPr>
        <p:txBody>
          <a:bodyPr lIns="0" tIns="0" rIns="0" bIns="0" rtlCol="0" anchor="t">
            <a:spAutoFit/>
          </a:bodyPr>
          <a:lstStyle/>
          <a:p>
            <a:pPr algn="l">
              <a:lnSpc>
                <a:spcPts val="3779"/>
              </a:lnSpc>
              <a:spcBef>
                <a:spcPct val="0"/>
              </a:spcBef>
            </a:pPr>
            <a:r>
              <a:rPr lang="en-US" sz="2699" b="1" spc="-134">
                <a:solidFill>
                  <a:srgbClr val="FFFFFF"/>
                </a:solidFill>
                <a:latin typeface="Open Sauce Bold"/>
                <a:ea typeface="Open Sauce Bold"/>
                <a:cs typeface="Open Sauce Bold"/>
                <a:sym typeface="Open Sauce Bold"/>
              </a:rPr>
              <a:t>Bar Chart</a:t>
            </a:r>
          </a:p>
        </p:txBody>
      </p:sp>
      <p:sp>
        <p:nvSpPr>
          <p:cNvPr id="32" name="TextBox 32"/>
          <p:cNvSpPr txBox="1"/>
          <p:nvPr/>
        </p:nvSpPr>
        <p:spPr>
          <a:xfrm>
            <a:off x="7453384" y="7256424"/>
            <a:ext cx="3454804" cy="1028701"/>
          </a:xfrm>
          <a:prstGeom prst="rect">
            <a:avLst/>
          </a:prstGeom>
        </p:spPr>
        <p:txBody>
          <a:bodyPr lIns="0" tIns="0" rIns="0" bIns="0" rtlCol="0" anchor="t">
            <a:spAutoFit/>
          </a:bodyPr>
          <a:lstStyle/>
          <a:p>
            <a:pPr algn="ctr">
              <a:lnSpc>
                <a:spcPts val="4199"/>
              </a:lnSpc>
              <a:spcBef>
                <a:spcPct val="0"/>
              </a:spcBef>
            </a:pPr>
            <a:r>
              <a:rPr lang="en-US" sz="2999" spc="-149">
                <a:solidFill>
                  <a:srgbClr val="000000"/>
                </a:solidFill>
                <a:latin typeface="Open Sauce"/>
                <a:ea typeface="Open Sauce"/>
                <a:cs typeface="Open Sauce"/>
                <a:sym typeface="Open Sauce"/>
              </a:rPr>
              <a:t>Evoluția istorică în funcție de țară</a:t>
            </a:r>
          </a:p>
        </p:txBody>
      </p:sp>
      <p:sp>
        <p:nvSpPr>
          <p:cNvPr id="33" name="TextBox 33"/>
          <p:cNvSpPr txBox="1"/>
          <p:nvPr/>
        </p:nvSpPr>
        <p:spPr>
          <a:xfrm>
            <a:off x="1554768" y="7094451"/>
            <a:ext cx="3793820" cy="1407796"/>
          </a:xfrm>
          <a:prstGeom prst="rect">
            <a:avLst/>
          </a:prstGeom>
        </p:spPr>
        <p:txBody>
          <a:bodyPr lIns="0" tIns="0" rIns="0" bIns="0" rtlCol="0" anchor="t">
            <a:spAutoFit/>
          </a:bodyPr>
          <a:lstStyle/>
          <a:p>
            <a:pPr algn="ctr">
              <a:lnSpc>
                <a:spcPts val="3779"/>
              </a:lnSpc>
              <a:spcBef>
                <a:spcPct val="0"/>
              </a:spcBef>
            </a:pPr>
            <a:r>
              <a:rPr lang="en-US" sz="2699" spc="-134">
                <a:solidFill>
                  <a:srgbClr val="FFFFFF"/>
                </a:solidFill>
                <a:latin typeface="Open Sauce"/>
                <a:ea typeface="Open Sauce"/>
                <a:cs typeface="Open Sauce"/>
                <a:sym typeface="Open Sauce"/>
              </a:rPr>
              <a:t>Informații privind nivelul mediu, minim și maxim al poluării aerului</a:t>
            </a:r>
          </a:p>
        </p:txBody>
      </p:sp>
      <p:sp>
        <p:nvSpPr>
          <p:cNvPr id="34" name="TextBox 34"/>
          <p:cNvSpPr txBox="1"/>
          <p:nvPr/>
        </p:nvSpPr>
        <p:spPr>
          <a:xfrm>
            <a:off x="12816004" y="7256424"/>
            <a:ext cx="4158353" cy="1028701"/>
          </a:xfrm>
          <a:prstGeom prst="rect">
            <a:avLst/>
          </a:prstGeom>
        </p:spPr>
        <p:txBody>
          <a:bodyPr lIns="0" tIns="0" rIns="0" bIns="0" rtlCol="0" anchor="t">
            <a:spAutoFit/>
          </a:bodyPr>
          <a:lstStyle/>
          <a:p>
            <a:pPr algn="ctr">
              <a:lnSpc>
                <a:spcPts val="4199"/>
              </a:lnSpc>
              <a:spcBef>
                <a:spcPct val="0"/>
              </a:spcBef>
            </a:pPr>
            <a:r>
              <a:rPr lang="en-US" sz="2999" spc="-149">
                <a:solidFill>
                  <a:srgbClr val="FFFFFF"/>
                </a:solidFill>
                <a:latin typeface="Open Sauce"/>
                <a:ea typeface="Open Sauce"/>
                <a:cs typeface="Open Sauce"/>
                <a:sym typeface="Open Sauce"/>
              </a:rPr>
              <a:t>Relația dintre an și nivelul mediu global al poluării </a:t>
            </a:r>
          </a:p>
        </p:txBody>
      </p:sp>
      <p:sp>
        <p:nvSpPr>
          <p:cNvPr id="35" name="TextBox 35"/>
          <p:cNvSpPr txBox="1"/>
          <p:nvPr/>
        </p:nvSpPr>
        <p:spPr>
          <a:xfrm>
            <a:off x="7353677" y="3488148"/>
            <a:ext cx="3454804" cy="1028701"/>
          </a:xfrm>
          <a:prstGeom prst="rect">
            <a:avLst/>
          </a:prstGeom>
        </p:spPr>
        <p:txBody>
          <a:bodyPr lIns="0" tIns="0" rIns="0" bIns="0" rtlCol="0" anchor="t">
            <a:spAutoFit/>
          </a:bodyPr>
          <a:lstStyle/>
          <a:p>
            <a:pPr algn="ctr">
              <a:lnSpc>
                <a:spcPts val="4199"/>
              </a:lnSpc>
            </a:pPr>
            <a:r>
              <a:rPr lang="en-US" sz="2999" spc="-149">
                <a:solidFill>
                  <a:srgbClr val="000000"/>
                </a:solidFill>
                <a:latin typeface="Open Sauce"/>
                <a:ea typeface="Open Sauce"/>
                <a:cs typeface="Open Sauce"/>
                <a:sym typeface="Open Sauce"/>
              </a:rPr>
              <a:t>Analiza continentală a valorilor țărilor</a:t>
            </a:r>
          </a:p>
        </p:txBody>
      </p:sp>
      <p:sp>
        <p:nvSpPr>
          <p:cNvPr id="36" name="TextBox 36"/>
          <p:cNvSpPr txBox="1"/>
          <p:nvPr/>
        </p:nvSpPr>
        <p:spPr>
          <a:xfrm>
            <a:off x="12756956" y="3433537"/>
            <a:ext cx="4125585" cy="1552576"/>
          </a:xfrm>
          <a:prstGeom prst="rect">
            <a:avLst/>
          </a:prstGeom>
        </p:spPr>
        <p:txBody>
          <a:bodyPr lIns="0" tIns="0" rIns="0" bIns="0" rtlCol="0" anchor="t">
            <a:spAutoFit/>
          </a:bodyPr>
          <a:lstStyle/>
          <a:p>
            <a:pPr algn="ctr">
              <a:lnSpc>
                <a:spcPts val="4199"/>
              </a:lnSpc>
            </a:pPr>
            <a:r>
              <a:rPr lang="en-US" sz="2999" spc="-149">
                <a:solidFill>
                  <a:srgbClr val="FFFFFF"/>
                </a:solidFill>
                <a:latin typeface="Open Sauce"/>
                <a:ea typeface="Open Sauce"/>
                <a:cs typeface="Open Sauce"/>
                <a:sym typeface="Open Sauce"/>
              </a:rPr>
              <a:t>Top 15 țări cu cel mai ridicat și cel mai scăzut nivel de poluare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EC"/>
        </a:solidFill>
        <a:effectLst/>
      </p:bgPr>
    </p:bg>
    <p:spTree>
      <p:nvGrpSpPr>
        <p:cNvPr id="1" name=""/>
        <p:cNvGrpSpPr/>
        <p:nvPr/>
      </p:nvGrpSpPr>
      <p:grpSpPr>
        <a:xfrm>
          <a:off x="0" y="0"/>
          <a:ext cx="0" cy="0"/>
          <a:chOff x="0" y="0"/>
          <a:chExt cx="0" cy="0"/>
        </a:xfrm>
      </p:grpSpPr>
      <p:sp>
        <p:nvSpPr>
          <p:cNvPr id="2" name="TextBox 2"/>
          <p:cNvSpPr txBox="1"/>
          <p:nvPr/>
        </p:nvSpPr>
        <p:spPr>
          <a:xfrm>
            <a:off x="696999" y="481013"/>
            <a:ext cx="17259300" cy="1104900"/>
          </a:xfrm>
          <a:prstGeom prst="rect">
            <a:avLst/>
          </a:prstGeom>
        </p:spPr>
        <p:txBody>
          <a:bodyPr lIns="0" tIns="0" rIns="0" bIns="0" rtlCol="0" anchor="t">
            <a:spAutoFit/>
          </a:bodyPr>
          <a:lstStyle/>
          <a:p>
            <a:pPr algn="l">
              <a:lnSpc>
                <a:spcPts val="8787"/>
              </a:lnSpc>
            </a:pPr>
            <a:r>
              <a:rPr lang="en-US" sz="7322" spc="-585">
                <a:solidFill>
                  <a:srgbClr val="4B3C3D"/>
                </a:solidFill>
                <a:latin typeface="Open Sauce"/>
                <a:ea typeface="Open Sauce"/>
                <a:cs typeface="Open Sauce"/>
                <a:sym typeface="Open Sauce"/>
              </a:rPr>
              <a:t>Principiile de vizualizare aplicate în Dashboard</a:t>
            </a:r>
          </a:p>
        </p:txBody>
      </p:sp>
      <p:grpSp>
        <p:nvGrpSpPr>
          <p:cNvPr id="3" name="Group 3"/>
          <p:cNvGrpSpPr/>
          <p:nvPr/>
        </p:nvGrpSpPr>
        <p:grpSpPr>
          <a:xfrm>
            <a:off x="1028700" y="2047683"/>
            <a:ext cx="9643258" cy="3402607"/>
            <a:chOff x="0" y="0"/>
            <a:chExt cx="2539788" cy="896160"/>
          </a:xfrm>
        </p:grpSpPr>
        <p:sp>
          <p:nvSpPr>
            <p:cNvPr id="4" name="Freeform 4"/>
            <p:cNvSpPr/>
            <p:nvPr/>
          </p:nvSpPr>
          <p:spPr>
            <a:xfrm>
              <a:off x="0" y="0"/>
              <a:ext cx="2539788" cy="896160"/>
            </a:xfrm>
            <a:custGeom>
              <a:avLst/>
              <a:gdLst/>
              <a:ahLst/>
              <a:cxnLst/>
              <a:rect l="l" t="t" r="r" b="b"/>
              <a:pathLst>
                <a:path w="2539788" h="896160">
                  <a:moveTo>
                    <a:pt x="20071" y="0"/>
                  </a:moveTo>
                  <a:lnTo>
                    <a:pt x="2519717" y="0"/>
                  </a:lnTo>
                  <a:cubicBezTo>
                    <a:pt x="2530802" y="0"/>
                    <a:pt x="2539788" y="8986"/>
                    <a:pt x="2539788" y="20071"/>
                  </a:cubicBezTo>
                  <a:lnTo>
                    <a:pt x="2539788" y="876089"/>
                  </a:lnTo>
                  <a:cubicBezTo>
                    <a:pt x="2539788" y="887174"/>
                    <a:pt x="2530802" y="896160"/>
                    <a:pt x="2519717" y="896160"/>
                  </a:cubicBezTo>
                  <a:lnTo>
                    <a:pt x="20071" y="896160"/>
                  </a:lnTo>
                  <a:cubicBezTo>
                    <a:pt x="8986" y="896160"/>
                    <a:pt x="0" y="887174"/>
                    <a:pt x="0" y="876089"/>
                  </a:cubicBezTo>
                  <a:lnTo>
                    <a:pt x="0" y="20071"/>
                  </a:lnTo>
                  <a:cubicBezTo>
                    <a:pt x="0" y="8986"/>
                    <a:pt x="8986" y="0"/>
                    <a:pt x="20071" y="0"/>
                  </a:cubicBezTo>
                  <a:close/>
                </a:path>
              </a:pathLst>
            </a:custGeom>
            <a:solidFill>
              <a:srgbClr val="DBD2D2"/>
            </a:solidFill>
          </p:spPr>
        </p:sp>
        <p:sp>
          <p:nvSpPr>
            <p:cNvPr id="5" name="TextBox 5"/>
            <p:cNvSpPr txBox="1"/>
            <p:nvPr/>
          </p:nvSpPr>
          <p:spPr>
            <a:xfrm>
              <a:off x="0" y="-28575"/>
              <a:ext cx="2539788" cy="924735"/>
            </a:xfrm>
            <a:prstGeom prst="rect">
              <a:avLst/>
            </a:prstGeom>
          </p:spPr>
          <p:txBody>
            <a:bodyPr lIns="50800" tIns="50800" rIns="50800" bIns="50800" rtlCol="0" anchor="ctr"/>
            <a:lstStyle/>
            <a:p>
              <a:pPr algn="ctr">
                <a:lnSpc>
                  <a:spcPts val="1960"/>
                </a:lnSpc>
              </a:pPr>
              <a:endParaRPr/>
            </a:p>
          </p:txBody>
        </p:sp>
      </p:grpSp>
      <p:sp>
        <p:nvSpPr>
          <p:cNvPr id="6" name="TextBox 6"/>
          <p:cNvSpPr txBox="1"/>
          <p:nvPr/>
        </p:nvSpPr>
        <p:spPr>
          <a:xfrm>
            <a:off x="1036392" y="2970477"/>
            <a:ext cx="9847138" cy="3825241"/>
          </a:xfrm>
          <a:prstGeom prst="rect">
            <a:avLst/>
          </a:prstGeom>
        </p:spPr>
        <p:txBody>
          <a:bodyPr lIns="0" tIns="0" rIns="0" bIns="0" rtlCol="0" anchor="t">
            <a:spAutoFit/>
          </a:bodyPr>
          <a:lstStyle/>
          <a:p>
            <a:pPr marL="561336" lvl="1" indent="-280668" algn="l">
              <a:lnSpc>
                <a:spcPts val="3639"/>
              </a:lnSpc>
              <a:buFont typeface="Arial"/>
              <a:buChar char="•"/>
            </a:pPr>
            <a:r>
              <a:rPr lang="en-US" sz="2599" spc="-129">
                <a:solidFill>
                  <a:srgbClr val="000000"/>
                </a:solidFill>
                <a:latin typeface="Open Sauce"/>
                <a:ea typeface="Open Sauce"/>
                <a:cs typeface="Open Sauce"/>
                <a:sym typeface="Open Sauce"/>
              </a:rPr>
              <a:t>Grafice simple, ușor de înțeles</a:t>
            </a:r>
          </a:p>
          <a:p>
            <a:pPr algn="l">
              <a:lnSpc>
                <a:spcPts val="3639"/>
              </a:lnSpc>
            </a:pPr>
            <a:endParaRPr lang="en-US" sz="2599" spc="-129">
              <a:solidFill>
                <a:srgbClr val="000000"/>
              </a:solidFill>
              <a:latin typeface="Open Sauce"/>
              <a:ea typeface="Open Sauce"/>
              <a:cs typeface="Open Sauce"/>
              <a:sym typeface="Open Sauce"/>
            </a:endParaRPr>
          </a:p>
          <a:p>
            <a:pPr marL="561336" lvl="1" indent="-280668" algn="l">
              <a:lnSpc>
                <a:spcPts val="3639"/>
              </a:lnSpc>
              <a:buFont typeface="Arial"/>
              <a:buChar char="•"/>
            </a:pPr>
            <a:r>
              <a:rPr lang="en-US" sz="2599" spc="-129">
                <a:solidFill>
                  <a:srgbClr val="000000"/>
                </a:solidFill>
                <a:latin typeface="Open Sauce"/>
                <a:ea typeface="Open Sauce"/>
                <a:cs typeface="Open Sauce"/>
                <a:sym typeface="Open Sauce"/>
              </a:rPr>
              <a:t>Titluri clare și adecvate</a:t>
            </a:r>
          </a:p>
          <a:p>
            <a:pPr algn="l">
              <a:lnSpc>
                <a:spcPts val="3639"/>
              </a:lnSpc>
            </a:pPr>
            <a:endParaRPr lang="en-US" sz="2599" spc="-129">
              <a:solidFill>
                <a:srgbClr val="000000"/>
              </a:solidFill>
              <a:latin typeface="Open Sauce"/>
              <a:ea typeface="Open Sauce"/>
              <a:cs typeface="Open Sauce"/>
              <a:sym typeface="Open Sauce"/>
            </a:endParaRPr>
          </a:p>
          <a:p>
            <a:pPr marL="561336" lvl="1" indent="-280668" algn="l">
              <a:lnSpc>
                <a:spcPts val="3639"/>
              </a:lnSpc>
              <a:buFont typeface="Arial"/>
              <a:buChar char="•"/>
            </a:pPr>
            <a:r>
              <a:rPr lang="en-US" sz="2599" spc="-129">
                <a:solidFill>
                  <a:srgbClr val="000000"/>
                </a:solidFill>
                <a:latin typeface="Open Sauce"/>
                <a:ea typeface="Open Sauce"/>
                <a:cs typeface="Open Sauce"/>
                <a:sym typeface="Open Sauce"/>
              </a:rPr>
              <a:t>Axe corect etichetate, cu unități de măsură</a:t>
            </a:r>
          </a:p>
          <a:p>
            <a:pPr algn="l">
              <a:lnSpc>
                <a:spcPts val="3639"/>
              </a:lnSpc>
            </a:pPr>
            <a:endParaRPr lang="en-US" sz="2599" spc="-129">
              <a:solidFill>
                <a:srgbClr val="000000"/>
              </a:solidFill>
              <a:latin typeface="Open Sauce"/>
              <a:ea typeface="Open Sauce"/>
              <a:cs typeface="Open Sauce"/>
              <a:sym typeface="Open Sauce"/>
            </a:endParaRPr>
          </a:p>
          <a:p>
            <a:pPr algn="l">
              <a:lnSpc>
                <a:spcPts val="3639"/>
              </a:lnSpc>
            </a:pPr>
            <a:endParaRPr lang="en-US" sz="2599" spc="-129">
              <a:solidFill>
                <a:srgbClr val="000000"/>
              </a:solidFill>
              <a:latin typeface="Open Sauce"/>
              <a:ea typeface="Open Sauce"/>
              <a:cs typeface="Open Sauce"/>
              <a:sym typeface="Open Sauce"/>
            </a:endParaRPr>
          </a:p>
          <a:p>
            <a:pPr algn="l">
              <a:lnSpc>
                <a:spcPts val="5179"/>
              </a:lnSpc>
              <a:spcBef>
                <a:spcPct val="0"/>
              </a:spcBef>
            </a:pPr>
            <a:endParaRPr lang="en-US" sz="2599" spc="-129">
              <a:solidFill>
                <a:srgbClr val="000000"/>
              </a:solidFill>
              <a:latin typeface="Open Sauce"/>
              <a:ea typeface="Open Sauce"/>
              <a:cs typeface="Open Sauce"/>
              <a:sym typeface="Open Sauce"/>
            </a:endParaRPr>
          </a:p>
        </p:txBody>
      </p:sp>
      <p:grpSp>
        <p:nvGrpSpPr>
          <p:cNvPr id="7" name="Group 7"/>
          <p:cNvGrpSpPr/>
          <p:nvPr/>
        </p:nvGrpSpPr>
        <p:grpSpPr>
          <a:xfrm>
            <a:off x="12094576" y="2274236"/>
            <a:ext cx="4645954" cy="2432589"/>
            <a:chOff x="0" y="0"/>
            <a:chExt cx="1223626" cy="640682"/>
          </a:xfrm>
        </p:grpSpPr>
        <p:sp>
          <p:nvSpPr>
            <p:cNvPr id="8" name="Freeform 8"/>
            <p:cNvSpPr/>
            <p:nvPr/>
          </p:nvSpPr>
          <p:spPr>
            <a:xfrm>
              <a:off x="0" y="0"/>
              <a:ext cx="1223626" cy="640682"/>
            </a:xfrm>
            <a:custGeom>
              <a:avLst/>
              <a:gdLst/>
              <a:ahLst/>
              <a:cxnLst/>
              <a:rect l="l" t="t" r="r" b="b"/>
              <a:pathLst>
                <a:path w="1223626" h="640682">
                  <a:moveTo>
                    <a:pt x="41659" y="0"/>
                  </a:moveTo>
                  <a:lnTo>
                    <a:pt x="1181966" y="0"/>
                  </a:lnTo>
                  <a:cubicBezTo>
                    <a:pt x="1204974" y="0"/>
                    <a:pt x="1223626" y="18652"/>
                    <a:pt x="1223626" y="41659"/>
                  </a:cubicBezTo>
                  <a:lnTo>
                    <a:pt x="1223626" y="599022"/>
                  </a:lnTo>
                  <a:cubicBezTo>
                    <a:pt x="1223626" y="622030"/>
                    <a:pt x="1204974" y="640682"/>
                    <a:pt x="1181966" y="640682"/>
                  </a:cubicBezTo>
                  <a:lnTo>
                    <a:pt x="41659" y="640682"/>
                  </a:lnTo>
                  <a:cubicBezTo>
                    <a:pt x="18652" y="640682"/>
                    <a:pt x="0" y="622030"/>
                    <a:pt x="0" y="599022"/>
                  </a:cubicBezTo>
                  <a:lnTo>
                    <a:pt x="0" y="41659"/>
                  </a:lnTo>
                  <a:cubicBezTo>
                    <a:pt x="0" y="18652"/>
                    <a:pt x="18652" y="0"/>
                    <a:pt x="41659" y="0"/>
                  </a:cubicBezTo>
                  <a:close/>
                </a:path>
              </a:pathLst>
            </a:custGeom>
            <a:solidFill>
              <a:srgbClr val="4B3C3D"/>
            </a:solidFill>
          </p:spPr>
        </p:sp>
        <p:sp>
          <p:nvSpPr>
            <p:cNvPr id="9" name="TextBox 9"/>
            <p:cNvSpPr txBox="1"/>
            <p:nvPr/>
          </p:nvSpPr>
          <p:spPr>
            <a:xfrm>
              <a:off x="0" y="-28575"/>
              <a:ext cx="1223626" cy="669257"/>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12282802" y="3195133"/>
            <a:ext cx="4457727" cy="824865"/>
          </a:xfrm>
          <a:prstGeom prst="rect">
            <a:avLst/>
          </a:prstGeom>
        </p:spPr>
        <p:txBody>
          <a:bodyPr lIns="0" tIns="0" rIns="0" bIns="0" rtlCol="0" anchor="t">
            <a:spAutoFit/>
          </a:bodyPr>
          <a:lstStyle/>
          <a:p>
            <a:pPr marL="518157" lvl="1" indent="-259078" algn="l">
              <a:lnSpc>
                <a:spcPts val="3359"/>
              </a:lnSpc>
              <a:buFont typeface="Arial"/>
              <a:buChar char="•"/>
            </a:pPr>
            <a:r>
              <a:rPr lang="en-US" sz="2399" spc="-119">
                <a:solidFill>
                  <a:srgbClr val="FFFFFF"/>
                </a:solidFill>
                <a:latin typeface="Open Sauce"/>
                <a:ea typeface="Open Sauce"/>
                <a:cs typeface="Open Sauce"/>
                <a:sym typeface="Open Sauce"/>
              </a:rPr>
              <a:t>Evitarea supraîncărcării vizuale</a:t>
            </a:r>
          </a:p>
        </p:txBody>
      </p:sp>
      <p:sp>
        <p:nvSpPr>
          <p:cNvPr id="11" name="TextBox 11"/>
          <p:cNvSpPr txBox="1"/>
          <p:nvPr/>
        </p:nvSpPr>
        <p:spPr>
          <a:xfrm>
            <a:off x="12282802" y="2398696"/>
            <a:ext cx="2514350" cy="438786"/>
          </a:xfrm>
          <a:prstGeom prst="rect">
            <a:avLst/>
          </a:prstGeom>
        </p:spPr>
        <p:txBody>
          <a:bodyPr lIns="0" tIns="0" rIns="0" bIns="0" rtlCol="0" anchor="t">
            <a:spAutoFit/>
          </a:bodyPr>
          <a:lstStyle/>
          <a:p>
            <a:pPr algn="ctr">
              <a:lnSpc>
                <a:spcPts val="3639"/>
              </a:lnSpc>
              <a:spcBef>
                <a:spcPct val="0"/>
              </a:spcBef>
            </a:pPr>
            <a:r>
              <a:rPr lang="en-US" sz="2599" b="1" spc="-129">
                <a:solidFill>
                  <a:srgbClr val="FFFFFF"/>
                </a:solidFill>
                <a:latin typeface="Open Sauce Bold"/>
                <a:ea typeface="Open Sauce Bold"/>
                <a:cs typeface="Open Sauce Bold"/>
                <a:sym typeface="Open Sauce Bold"/>
              </a:rPr>
              <a:t>Less is more</a:t>
            </a:r>
          </a:p>
        </p:txBody>
      </p:sp>
      <p:grpSp>
        <p:nvGrpSpPr>
          <p:cNvPr id="12" name="Group 12"/>
          <p:cNvGrpSpPr/>
          <p:nvPr/>
        </p:nvGrpSpPr>
        <p:grpSpPr>
          <a:xfrm>
            <a:off x="1028700" y="6070226"/>
            <a:ext cx="8297949" cy="2790182"/>
            <a:chOff x="0" y="0"/>
            <a:chExt cx="2185468" cy="734863"/>
          </a:xfrm>
        </p:grpSpPr>
        <p:sp>
          <p:nvSpPr>
            <p:cNvPr id="13" name="Freeform 13"/>
            <p:cNvSpPr/>
            <p:nvPr/>
          </p:nvSpPr>
          <p:spPr>
            <a:xfrm>
              <a:off x="0" y="0"/>
              <a:ext cx="2185468" cy="734863"/>
            </a:xfrm>
            <a:custGeom>
              <a:avLst/>
              <a:gdLst/>
              <a:ahLst/>
              <a:cxnLst/>
              <a:rect l="l" t="t" r="r" b="b"/>
              <a:pathLst>
                <a:path w="2185468" h="734863">
                  <a:moveTo>
                    <a:pt x="23325" y="0"/>
                  </a:moveTo>
                  <a:lnTo>
                    <a:pt x="2162143" y="0"/>
                  </a:lnTo>
                  <a:cubicBezTo>
                    <a:pt x="2168329" y="0"/>
                    <a:pt x="2174262" y="2457"/>
                    <a:pt x="2178636" y="6832"/>
                  </a:cubicBezTo>
                  <a:cubicBezTo>
                    <a:pt x="2183011" y="11206"/>
                    <a:pt x="2185468" y="17139"/>
                    <a:pt x="2185468" y="23325"/>
                  </a:cubicBezTo>
                  <a:lnTo>
                    <a:pt x="2185468" y="711538"/>
                  </a:lnTo>
                  <a:cubicBezTo>
                    <a:pt x="2185468" y="724420"/>
                    <a:pt x="2175025" y="734863"/>
                    <a:pt x="2162143" y="734863"/>
                  </a:cubicBezTo>
                  <a:lnTo>
                    <a:pt x="23325" y="734863"/>
                  </a:lnTo>
                  <a:cubicBezTo>
                    <a:pt x="10443" y="734863"/>
                    <a:pt x="0" y="724420"/>
                    <a:pt x="0" y="711538"/>
                  </a:cubicBezTo>
                  <a:lnTo>
                    <a:pt x="0" y="23325"/>
                  </a:lnTo>
                  <a:cubicBezTo>
                    <a:pt x="0" y="10443"/>
                    <a:pt x="10443" y="0"/>
                    <a:pt x="23325" y="0"/>
                  </a:cubicBezTo>
                  <a:close/>
                </a:path>
              </a:pathLst>
            </a:custGeom>
            <a:solidFill>
              <a:srgbClr val="4B3C3D"/>
            </a:solidFill>
          </p:spPr>
        </p:sp>
        <p:sp>
          <p:nvSpPr>
            <p:cNvPr id="14" name="TextBox 14"/>
            <p:cNvSpPr txBox="1"/>
            <p:nvPr/>
          </p:nvSpPr>
          <p:spPr>
            <a:xfrm>
              <a:off x="0" y="-28575"/>
              <a:ext cx="2185468" cy="763438"/>
            </a:xfrm>
            <a:prstGeom prst="rect">
              <a:avLst/>
            </a:prstGeom>
          </p:spPr>
          <p:txBody>
            <a:bodyPr lIns="50800" tIns="50800" rIns="50800" bIns="50800" rtlCol="0" anchor="ctr"/>
            <a:lstStyle/>
            <a:p>
              <a:pPr algn="ctr">
                <a:lnSpc>
                  <a:spcPts val="1960"/>
                </a:lnSpc>
              </a:pPr>
              <a:endParaRPr/>
            </a:p>
          </p:txBody>
        </p:sp>
      </p:grpSp>
      <p:sp>
        <p:nvSpPr>
          <p:cNvPr id="15" name="TextBox 15"/>
          <p:cNvSpPr txBox="1"/>
          <p:nvPr/>
        </p:nvSpPr>
        <p:spPr>
          <a:xfrm>
            <a:off x="1036392" y="7197342"/>
            <a:ext cx="8290257" cy="1663065"/>
          </a:xfrm>
          <a:prstGeom prst="rect">
            <a:avLst/>
          </a:prstGeom>
        </p:spPr>
        <p:txBody>
          <a:bodyPr lIns="0" tIns="0" rIns="0" bIns="0" rtlCol="0" anchor="t">
            <a:spAutoFit/>
          </a:bodyPr>
          <a:lstStyle/>
          <a:p>
            <a:pPr marL="518157" lvl="1" indent="-259078" algn="l">
              <a:lnSpc>
                <a:spcPts val="3359"/>
              </a:lnSpc>
              <a:buFont typeface="Arial"/>
              <a:buChar char="•"/>
            </a:pPr>
            <a:r>
              <a:rPr lang="en-US" sz="2399" spc="-119">
                <a:solidFill>
                  <a:srgbClr val="FFFFFF"/>
                </a:solidFill>
                <a:latin typeface="Open Sauce"/>
                <a:ea typeface="Open Sauce"/>
                <a:cs typeface="Open Sauce"/>
                <a:sym typeface="Open Sauce"/>
              </a:rPr>
              <a:t>Informația este dezvăluită treptat prin interactivitate, folosind acțiuni Tableau</a:t>
            </a:r>
          </a:p>
          <a:p>
            <a:pPr algn="l">
              <a:lnSpc>
                <a:spcPts val="3359"/>
              </a:lnSpc>
            </a:pPr>
            <a:endParaRPr lang="en-US" sz="2399" spc="-119">
              <a:solidFill>
                <a:srgbClr val="FFFFFF"/>
              </a:solidFill>
              <a:latin typeface="Open Sauce"/>
              <a:ea typeface="Open Sauce"/>
              <a:cs typeface="Open Sauce"/>
              <a:sym typeface="Open Sauce"/>
            </a:endParaRPr>
          </a:p>
          <a:p>
            <a:pPr algn="l">
              <a:lnSpc>
                <a:spcPts val="3359"/>
              </a:lnSpc>
            </a:pPr>
            <a:endParaRPr lang="en-US" sz="2399" spc="-119">
              <a:solidFill>
                <a:srgbClr val="FFFFFF"/>
              </a:solidFill>
              <a:latin typeface="Open Sauce"/>
              <a:ea typeface="Open Sauce"/>
              <a:cs typeface="Open Sauce"/>
              <a:sym typeface="Open Sauce"/>
            </a:endParaRPr>
          </a:p>
        </p:txBody>
      </p:sp>
      <p:sp>
        <p:nvSpPr>
          <p:cNvPr id="16" name="TextBox 16"/>
          <p:cNvSpPr txBox="1"/>
          <p:nvPr/>
        </p:nvSpPr>
        <p:spPr>
          <a:xfrm>
            <a:off x="1460697" y="2313606"/>
            <a:ext cx="2514350" cy="490856"/>
          </a:xfrm>
          <a:prstGeom prst="rect">
            <a:avLst/>
          </a:prstGeom>
        </p:spPr>
        <p:txBody>
          <a:bodyPr lIns="0" tIns="0" rIns="0" bIns="0" rtlCol="0" anchor="t">
            <a:spAutoFit/>
          </a:bodyPr>
          <a:lstStyle/>
          <a:p>
            <a:pPr algn="l">
              <a:lnSpc>
                <a:spcPts val="3919"/>
              </a:lnSpc>
              <a:spcBef>
                <a:spcPct val="0"/>
              </a:spcBef>
            </a:pPr>
            <a:r>
              <a:rPr lang="en-US" sz="2799" b="1" spc="-139">
                <a:solidFill>
                  <a:srgbClr val="000000"/>
                </a:solidFill>
                <a:latin typeface="Open Sauce Bold"/>
                <a:ea typeface="Open Sauce Bold"/>
                <a:cs typeface="Open Sauce Bold"/>
                <a:sym typeface="Open Sauce Bold"/>
              </a:rPr>
              <a:t>Claritate </a:t>
            </a:r>
          </a:p>
        </p:txBody>
      </p:sp>
      <p:grpSp>
        <p:nvGrpSpPr>
          <p:cNvPr id="17" name="Group 17"/>
          <p:cNvGrpSpPr/>
          <p:nvPr/>
        </p:nvGrpSpPr>
        <p:grpSpPr>
          <a:xfrm>
            <a:off x="13167168" y="4944375"/>
            <a:ext cx="3573362" cy="3916033"/>
            <a:chOff x="0" y="0"/>
            <a:chExt cx="941132" cy="1031383"/>
          </a:xfrm>
        </p:grpSpPr>
        <p:sp>
          <p:nvSpPr>
            <p:cNvPr id="18" name="Freeform 18"/>
            <p:cNvSpPr/>
            <p:nvPr/>
          </p:nvSpPr>
          <p:spPr>
            <a:xfrm>
              <a:off x="0" y="0"/>
              <a:ext cx="941132" cy="1031383"/>
            </a:xfrm>
            <a:custGeom>
              <a:avLst/>
              <a:gdLst/>
              <a:ahLst/>
              <a:cxnLst/>
              <a:rect l="l" t="t" r="r" b="b"/>
              <a:pathLst>
                <a:path w="941132" h="1031383">
                  <a:moveTo>
                    <a:pt x="54164" y="0"/>
                  </a:moveTo>
                  <a:lnTo>
                    <a:pt x="886968" y="0"/>
                  </a:lnTo>
                  <a:cubicBezTo>
                    <a:pt x="916882" y="0"/>
                    <a:pt x="941132" y="24250"/>
                    <a:pt x="941132" y="54164"/>
                  </a:cubicBezTo>
                  <a:lnTo>
                    <a:pt x="941132" y="977219"/>
                  </a:lnTo>
                  <a:cubicBezTo>
                    <a:pt x="941132" y="1007133"/>
                    <a:pt x="916882" y="1031383"/>
                    <a:pt x="886968" y="1031383"/>
                  </a:cubicBezTo>
                  <a:lnTo>
                    <a:pt x="54164" y="1031383"/>
                  </a:lnTo>
                  <a:cubicBezTo>
                    <a:pt x="39799" y="1031383"/>
                    <a:pt x="26022" y="1025677"/>
                    <a:pt x="15864" y="1015519"/>
                  </a:cubicBezTo>
                  <a:cubicBezTo>
                    <a:pt x="5707" y="1005361"/>
                    <a:pt x="0" y="991584"/>
                    <a:pt x="0" y="977219"/>
                  </a:cubicBezTo>
                  <a:lnTo>
                    <a:pt x="0" y="54164"/>
                  </a:lnTo>
                  <a:cubicBezTo>
                    <a:pt x="0" y="24250"/>
                    <a:pt x="24250" y="0"/>
                    <a:pt x="54164" y="0"/>
                  </a:cubicBezTo>
                  <a:close/>
                </a:path>
              </a:pathLst>
            </a:custGeom>
            <a:solidFill>
              <a:srgbClr val="DBD2D2"/>
            </a:solidFill>
          </p:spPr>
        </p:sp>
        <p:sp>
          <p:nvSpPr>
            <p:cNvPr id="19" name="TextBox 19"/>
            <p:cNvSpPr txBox="1"/>
            <p:nvPr/>
          </p:nvSpPr>
          <p:spPr>
            <a:xfrm>
              <a:off x="0" y="-28575"/>
              <a:ext cx="941132" cy="1059958"/>
            </a:xfrm>
            <a:prstGeom prst="rect">
              <a:avLst/>
            </a:prstGeom>
          </p:spPr>
          <p:txBody>
            <a:bodyPr lIns="50800" tIns="50800" rIns="50800" bIns="50800" rtlCol="0" anchor="ctr"/>
            <a:lstStyle/>
            <a:p>
              <a:pPr algn="ctr">
                <a:lnSpc>
                  <a:spcPts val="1960"/>
                </a:lnSpc>
              </a:pPr>
              <a:endParaRPr/>
            </a:p>
          </p:txBody>
        </p:sp>
      </p:grpSp>
      <p:sp>
        <p:nvSpPr>
          <p:cNvPr id="20" name="TextBox 20"/>
          <p:cNvSpPr txBox="1"/>
          <p:nvPr/>
        </p:nvSpPr>
        <p:spPr>
          <a:xfrm>
            <a:off x="13477280" y="6022601"/>
            <a:ext cx="2953138" cy="2556510"/>
          </a:xfrm>
          <a:prstGeom prst="rect">
            <a:avLst/>
          </a:prstGeom>
        </p:spPr>
        <p:txBody>
          <a:bodyPr lIns="0" tIns="0" rIns="0" bIns="0" rtlCol="0" anchor="t">
            <a:spAutoFit/>
          </a:bodyPr>
          <a:lstStyle/>
          <a:p>
            <a:pPr marL="561336" lvl="1" indent="-280668" algn="l">
              <a:lnSpc>
                <a:spcPts val="3639"/>
              </a:lnSpc>
              <a:buFont typeface="Arial"/>
              <a:buChar char="•"/>
            </a:pPr>
            <a:r>
              <a:rPr lang="en-US" sz="2599" spc="-129">
                <a:solidFill>
                  <a:srgbClr val="000000"/>
                </a:solidFill>
                <a:latin typeface="Open Sauce"/>
                <a:ea typeface="Open Sauce"/>
                <a:cs typeface="Open Sauce"/>
                <a:sym typeface="Open Sauce"/>
              </a:rPr>
              <a:t>Color coding - HeapMap</a:t>
            </a:r>
          </a:p>
          <a:p>
            <a:pPr algn="l">
              <a:lnSpc>
                <a:spcPts val="3639"/>
              </a:lnSpc>
            </a:pPr>
            <a:endParaRPr lang="en-US" sz="2599" spc="-129">
              <a:solidFill>
                <a:srgbClr val="000000"/>
              </a:solidFill>
              <a:latin typeface="Open Sauce"/>
              <a:ea typeface="Open Sauce"/>
              <a:cs typeface="Open Sauce"/>
              <a:sym typeface="Open Sauce"/>
            </a:endParaRPr>
          </a:p>
          <a:p>
            <a:pPr marL="561336" lvl="1" indent="-280668" algn="l">
              <a:lnSpc>
                <a:spcPts val="3639"/>
              </a:lnSpc>
              <a:buFont typeface="Arial"/>
              <a:buChar char="•"/>
            </a:pPr>
            <a:r>
              <a:rPr lang="en-US" sz="2599" spc="-129">
                <a:solidFill>
                  <a:srgbClr val="000000"/>
                </a:solidFill>
                <a:latin typeface="Open Sauce"/>
                <a:ea typeface="Open Sauce"/>
                <a:cs typeface="Open Sauce"/>
                <a:sym typeface="Open Sauce"/>
              </a:rPr>
              <a:t>Contrast vizual - negru pe alb</a:t>
            </a:r>
          </a:p>
          <a:p>
            <a:pPr algn="l">
              <a:lnSpc>
                <a:spcPts val="2240"/>
              </a:lnSpc>
              <a:spcBef>
                <a:spcPct val="0"/>
              </a:spcBef>
            </a:pPr>
            <a:endParaRPr lang="en-US" sz="2599" spc="-129">
              <a:solidFill>
                <a:srgbClr val="000000"/>
              </a:solidFill>
              <a:latin typeface="Open Sauce"/>
              <a:ea typeface="Open Sauce"/>
              <a:cs typeface="Open Sauce"/>
              <a:sym typeface="Open Sauce"/>
            </a:endParaRPr>
          </a:p>
        </p:txBody>
      </p:sp>
      <p:sp>
        <p:nvSpPr>
          <p:cNvPr id="21" name="TextBox 21"/>
          <p:cNvSpPr txBox="1"/>
          <p:nvPr/>
        </p:nvSpPr>
        <p:spPr>
          <a:xfrm>
            <a:off x="13539978" y="5344999"/>
            <a:ext cx="2514350" cy="438786"/>
          </a:xfrm>
          <a:prstGeom prst="rect">
            <a:avLst/>
          </a:prstGeom>
        </p:spPr>
        <p:txBody>
          <a:bodyPr lIns="0" tIns="0" rIns="0" bIns="0" rtlCol="0" anchor="t">
            <a:spAutoFit/>
          </a:bodyPr>
          <a:lstStyle/>
          <a:p>
            <a:pPr algn="ctr">
              <a:lnSpc>
                <a:spcPts val="3639"/>
              </a:lnSpc>
              <a:spcBef>
                <a:spcPct val="0"/>
              </a:spcBef>
            </a:pPr>
            <a:r>
              <a:rPr lang="en-US" sz="2599" b="1" spc="-129">
                <a:solidFill>
                  <a:srgbClr val="000000"/>
                </a:solidFill>
                <a:latin typeface="Open Sauce Bold"/>
                <a:ea typeface="Open Sauce Bold"/>
                <a:cs typeface="Open Sauce Bold"/>
                <a:sym typeface="Open Sauce Bold"/>
              </a:rPr>
              <a:t>Coloristică</a:t>
            </a:r>
          </a:p>
        </p:txBody>
      </p:sp>
      <p:sp>
        <p:nvSpPr>
          <p:cNvPr id="22" name="TextBox 22"/>
          <p:cNvSpPr txBox="1"/>
          <p:nvPr/>
        </p:nvSpPr>
        <p:spPr>
          <a:xfrm>
            <a:off x="1028700" y="6373442"/>
            <a:ext cx="5828171" cy="422275"/>
          </a:xfrm>
          <a:prstGeom prst="rect">
            <a:avLst/>
          </a:prstGeom>
        </p:spPr>
        <p:txBody>
          <a:bodyPr lIns="0" tIns="0" rIns="0" bIns="0" rtlCol="0" anchor="t">
            <a:spAutoFit/>
          </a:bodyPr>
          <a:lstStyle/>
          <a:p>
            <a:pPr algn="ctr">
              <a:lnSpc>
                <a:spcPts val="3499"/>
              </a:lnSpc>
              <a:spcBef>
                <a:spcPct val="0"/>
              </a:spcBef>
            </a:pPr>
            <a:r>
              <a:rPr lang="en-US" sz="2499" b="1" spc="-124" dirty="0" err="1">
                <a:solidFill>
                  <a:srgbClr val="FFFFFF"/>
                </a:solidFill>
                <a:latin typeface="Open Sauce Bold"/>
                <a:ea typeface="Open Sauce Bold"/>
                <a:cs typeface="Open Sauce Bold"/>
                <a:sym typeface="Open Sauce Bold"/>
              </a:rPr>
              <a:t>Dezvăluirea</a:t>
            </a:r>
            <a:r>
              <a:rPr lang="en-US" sz="2499" b="1" spc="-124" dirty="0">
                <a:solidFill>
                  <a:srgbClr val="FFFFFF"/>
                </a:solidFill>
                <a:latin typeface="Open Sauce Bold"/>
                <a:ea typeface="Open Sauce Bold"/>
                <a:cs typeface="Open Sauce Bold"/>
                <a:sym typeface="Open Sauce Bold"/>
              </a:rPr>
              <a:t> </a:t>
            </a:r>
            <a:r>
              <a:rPr lang="en-US" sz="2499" b="1" spc="-124" dirty="0" err="1">
                <a:solidFill>
                  <a:srgbClr val="FFFFFF"/>
                </a:solidFill>
                <a:latin typeface="Open Sauce Bold"/>
                <a:ea typeface="Open Sauce Bold"/>
                <a:cs typeface="Open Sauce Bold"/>
                <a:sym typeface="Open Sauce Bold"/>
              </a:rPr>
              <a:t>treptată</a:t>
            </a:r>
            <a:r>
              <a:rPr lang="en-US" sz="2499" b="1" spc="-124" dirty="0">
                <a:solidFill>
                  <a:srgbClr val="FFFFFF"/>
                </a:solidFill>
                <a:latin typeface="Open Sauce Bold"/>
                <a:ea typeface="Open Sauce Bold"/>
                <a:cs typeface="Open Sauce Bold"/>
                <a:sym typeface="Open Sauce Bold"/>
              </a:rPr>
              <a:t> a </a:t>
            </a:r>
            <a:r>
              <a:rPr lang="en-US" sz="2499" b="1" spc="-124" dirty="0" err="1">
                <a:solidFill>
                  <a:srgbClr val="FFFFFF"/>
                </a:solidFill>
                <a:latin typeface="Open Sauce Bold"/>
                <a:ea typeface="Open Sauce Bold"/>
                <a:cs typeface="Open Sauce Bold"/>
                <a:sym typeface="Open Sauce Bold"/>
              </a:rPr>
              <a:t>informației</a:t>
            </a:r>
            <a:endParaRPr lang="en-US" sz="2499" b="1" spc="-124" dirty="0">
              <a:solidFill>
                <a:srgbClr val="FFFFFF"/>
              </a:solidFill>
              <a:latin typeface="Open Sauce Bold"/>
              <a:ea typeface="Open Sauce Bold"/>
              <a:cs typeface="Open Sauce Bold"/>
              <a:sym typeface="Open Sauce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354330"/>
            <a:ext cx="18288000" cy="9578340"/>
          </a:xfrm>
          <a:custGeom>
            <a:avLst/>
            <a:gdLst/>
            <a:ahLst/>
            <a:cxnLst/>
            <a:rect l="l" t="t" r="r" b="b"/>
            <a:pathLst>
              <a:path w="18288000" h="9578340">
                <a:moveTo>
                  <a:pt x="0" y="0"/>
                </a:moveTo>
                <a:lnTo>
                  <a:pt x="18288000" y="0"/>
                </a:lnTo>
                <a:lnTo>
                  <a:pt x="18288000" y="9578340"/>
                </a:lnTo>
                <a:lnTo>
                  <a:pt x="0" y="9578340"/>
                </a:lnTo>
                <a:lnTo>
                  <a:pt x="0" y="0"/>
                </a:lnTo>
                <a:close/>
              </a:path>
            </a:pathLst>
          </a:custGeom>
          <a:blipFill>
            <a:blip r:embed="rId2"/>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285714"/>
            <a:ext cx="18288000" cy="9715572"/>
          </a:xfrm>
          <a:custGeom>
            <a:avLst/>
            <a:gdLst/>
            <a:ahLst/>
            <a:cxnLst/>
            <a:rect l="l" t="t" r="r" b="b"/>
            <a:pathLst>
              <a:path w="18288000" h="9715572">
                <a:moveTo>
                  <a:pt x="0" y="0"/>
                </a:moveTo>
                <a:lnTo>
                  <a:pt x="18288000" y="0"/>
                </a:lnTo>
                <a:lnTo>
                  <a:pt x="18288000" y="9715572"/>
                </a:lnTo>
                <a:lnTo>
                  <a:pt x="0" y="9715572"/>
                </a:lnTo>
                <a:lnTo>
                  <a:pt x="0" y="0"/>
                </a:lnTo>
                <a:close/>
              </a:path>
            </a:pathLst>
          </a:custGeom>
          <a:blipFill>
            <a:blip r:embed="rId2"/>
            <a:stretch>
              <a:fillRect r="-950"/>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D2D2"/>
        </a:solidFill>
        <a:effectLst/>
      </p:bgPr>
    </p:bg>
    <p:spTree>
      <p:nvGrpSpPr>
        <p:cNvPr id="1" name=""/>
        <p:cNvGrpSpPr/>
        <p:nvPr/>
      </p:nvGrpSpPr>
      <p:grpSpPr>
        <a:xfrm>
          <a:off x="0" y="0"/>
          <a:ext cx="0" cy="0"/>
          <a:chOff x="0" y="0"/>
          <a:chExt cx="0" cy="0"/>
        </a:xfrm>
      </p:grpSpPr>
      <p:grpSp>
        <p:nvGrpSpPr>
          <p:cNvPr id="2" name="Group 2"/>
          <p:cNvGrpSpPr/>
          <p:nvPr/>
        </p:nvGrpSpPr>
        <p:grpSpPr>
          <a:xfrm>
            <a:off x="14099574" y="439508"/>
            <a:ext cx="3159726" cy="2508189"/>
            <a:chOff x="0" y="0"/>
            <a:chExt cx="716135" cy="568467"/>
          </a:xfrm>
        </p:grpSpPr>
        <p:sp>
          <p:nvSpPr>
            <p:cNvPr id="3" name="Freeform 3"/>
            <p:cNvSpPr/>
            <p:nvPr/>
          </p:nvSpPr>
          <p:spPr>
            <a:xfrm>
              <a:off x="0" y="0"/>
              <a:ext cx="716135" cy="568467"/>
            </a:xfrm>
            <a:custGeom>
              <a:avLst/>
              <a:gdLst/>
              <a:ahLst/>
              <a:cxnLst/>
              <a:rect l="l" t="t" r="r" b="b"/>
              <a:pathLst>
                <a:path w="716135" h="568467">
                  <a:moveTo>
                    <a:pt x="49004" y="0"/>
                  </a:moveTo>
                  <a:lnTo>
                    <a:pt x="667131" y="0"/>
                  </a:lnTo>
                  <a:cubicBezTo>
                    <a:pt x="680128" y="0"/>
                    <a:pt x="692592" y="5163"/>
                    <a:pt x="701782" y="14353"/>
                  </a:cubicBezTo>
                  <a:cubicBezTo>
                    <a:pt x="710972" y="23543"/>
                    <a:pt x="716135" y="36007"/>
                    <a:pt x="716135" y="49004"/>
                  </a:cubicBezTo>
                  <a:lnTo>
                    <a:pt x="716135" y="519464"/>
                  </a:lnTo>
                  <a:cubicBezTo>
                    <a:pt x="716135" y="532460"/>
                    <a:pt x="710972" y="544925"/>
                    <a:pt x="701782" y="554115"/>
                  </a:cubicBezTo>
                  <a:cubicBezTo>
                    <a:pt x="692592" y="563305"/>
                    <a:pt x="680128" y="568467"/>
                    <a:pt x="667131" y="568467"/>
                  </a:cubicBezTo>
                  <a:lnTo>
                    <a:pt x="49004" y="568467"/>
                  </a:lnTo>
                  <a:cubicBezTo>
                    <a:pt x="36007" y="568467"/>
                    <a:pt x="23543" y="563305"/>
                    <a:pt x="14353" y="554115"/>
                  </a:cubicBezTo>
                  <a:cubicBezTo>
                    <a:pt x="5163" y="544925"/>
                    <a:pt x="0" y="532460"/>
                    <a:pt x="0" y="519464"/>
                  </a:cubicBezTo>
                  <a:lnTo>
                    <a:pt x="0" y="49004"/>
                  </a:lnTo>
                  <a:cubicBezTo>
                    <a:pt x="0" y="36007"/>
                    <a:pt x="5163" y="23543"/>
                    <a:pt x="14353" y="14353"/>
                  </a:cubicBezTo>
                  <a:cubicBezTo>
                    <a:pt x="23543" y="5163"/>
                    <a:pt x="36007" y="0"/>
                    <a:pt x="49004" y="0"/>
                  </a:cubicBezTo>
                  <a:close/>
                </a:path>
              </a:pathLst>
            </a:custGeom>
            <a:blipFill>
              <a:blip r:embed="rId2"/>
              <a:stretch>
                <a:fillRect l="-9572" r="-9572"/>
              </a:stretch>
            </a:blipFill>
          </p:spPr>
        </p:sp>
      </p:grpSp>
      <p:sp>
        <p:nvSpPr>
          <p:cNvPr id="4" name="TextBox 4"/>
          <p:cNvSpPr txBox="1"/>
          <p:nvPr/>
        </p:nvSpPr>
        <p:spPr>
          <a:xfrm>
            <a:off x="1781804" y="594049"/>
            <a:ext cx="6859038" cy="1981770"/>
          </a:xfrm>
          <a:prstGeom prst="rect">
            <a:avLst/>
          </a:prstGeom>
        </p:spPr>
        <p:txBody>
          <a:bodyPr lIns="0" tIns="0" rIns="0" bIns="0" rtlCol="0" anchor="t">
            <a:spAutoFit/>
          </a:bodyPr>
          <a:lstStyle/>
          <a:p>
            <a:pPr algn="l">
              <a:lnSpc>
                <a:spcPts val="16243"/>
              </a:lnSpc>
              <a:spcBef>
                <a:spcPct val="0"/>
              </a:spcBef>
            </a:pPr>
            <a:r>
              <a:rPr lang="en-US" sz="11602" u="sng" spc="-928">
                <a:solidFill>
                  <a:srgbClr val="4B3C3D"/>
                </a:solidFill>
                <a:latin typeface="Open Sauce"/>
                <a:ea typeface="Open Sauce"/>
                <a:cs typeface="Open Sauce"/>
                <a:sym typeface="Open Sauce"/>
              </a:rPr>
              <a:t>Concluzii</a:t>
            </a:r>
          </a:p>
        </p:txBody>
      </p:sp>
      <p:grpSp>
        <p:nvGrpSpPr>
          <p:cNvPr id="5" name="Group 5"/>
          <p:cNvGrpSpPr/>
          <p:nvPr/>
        </p:nvGrpSpPr>
        <p:grpSpPr>
          <a:xfrm>
            <a:off x="10322861" y="468425"/>
            <a:ext cx="3122487" cy="2450354"/>
            <a:chOff x="0" y="0"/>
            <a:chExt cx="724398" cy="568467"/>
          </a:xfrm>
        </p:grpSpPr>
        <p:sp>
          <p:nvSpPr>
            <p:cNvPr id="6" name="Freeform 6"/>
            <p:cNvSpPr/>
            <p:nvPr/>
          </p:nvSpPr>
          <p:spPr>
            <a:xfrm>
              <a:off x="0" y="0"/>
              <a:ext cx="724398" cy="568467"/>
            </a:xfrm>
            <a:custGeom>
              <a:avLst/>
              <a:gdLst/>
              <a:ahLst/>
              <a:cxnLst/>
              <a:rect l="l" t="t" r="r" b="b"/>
              <a:pathLst>
                <a:path w="724398" h="568467">
                  <a:moveTo>
                    <a:pt x="49588" y="0"/>
                  </a:moveTo>
                  <a:lnTo>
                    <a:pt x="674810" y="0"/>
                  </a:lnTo>
                  <a:cubicBezTo>
                    <a:pt x="702197" y="0"/>
                    <a:pt x="724398" y="22201"/>
                    <a:pt x="724398" y="49588"/>
                  </a:cubicBezTo>
                  <a:lnTo>
                    <a:pt x="724398" y="518879"/>
                  </a:lnTo>
                  <a:cubicBezTo>
                    <a:pt x="724398" y="532031"/>
                    <a:pt x="719174" y="544644"/>
                    <a:pt x="709874" y="553943"/>
                  </a:cubicBezTo>
                  <a:cubicBezTo>
                    <a:pt x="700575" y="563243"/>
                    <a:pt x="687962" y="568467"/>
                    <a:pt x="674810" y="568467"/>
                  </a:cubicBezTo>
                  <a:lnTo>
                    <a:pt x="49588" y="568467"/>
                  </a:lnTo>
                  <a:cubicBezTo>
                    <a:pt x="22201" y="568467"/>
                    <a:pt x="0" y="546266"/>
                    <a:pt x="0" y="518879"/>
                  </a:cubicBezTo>
                  <a:lnTo>
                    <a:pt x="0" y="49588"/>
                  </a:lnTo>
                  <a:cubicBezTo>
                    <a:pt x="0" y="36437"/>
                    <a:pt x="5224" y="23824"/>
                    <a:pt x="14524" y="14524"/>
                  </a:cubicBezTo>
                  <a:cubicBezTo>
                    <a:pt x="23824" y="5224"/>
                    <a:pt x="36437" y="0"/>
                    <a:pt x="49588" y="0"/>
                  </a:cubicBezTo>
                  <a:close/>
                </a:path>
              </a:pathLst>
            </a:custGeom>
            <a:blipFill>
              <a:blip r:embed="rId3"/>
              <a:stretch>
                <a:fillRect t="-9804" r="-40882" b="-9804"/>
              </a:stretch>
            </a:blipFill>
          </p:spPr>
        </p:sp>
      </p:grpSp>
      <p:grpSp>
        <p:nvGrpSpPr>
          <p:cNvPr id="7" name="Group 7"/>
          <p:cNvGrpSpPr/>
          <p:nvPr/>
        </p:nvGrpSpPr>
        <p:grpSpPr>
          <a:xfrm>
            <a:off x="271228" y="3127171"/>
            <a:ext cx="17745545" cy="6898717"/>
            <a:chOff x="0" y="0"/>
            <a:chExt cx="4673724" cy="1816946"/>
          </a:xfrm>
        </p:grpSpPr>
        <p:sp>
          <p:nvSpPr>
            <p:cNvPr id="8" name="Freeform 8"/>
            <p:cNvSpPr/>
            <p:nvPr/>
          </p:nvSpPr>
          <p:spPr>
            <a:xfrm>
              <a:off x="0" y="0"/>
              <a:ext cx="4673724" cy="1816946"/>
            </a:xfrm>
            <a:custGeom>
              <a:avLst/>
              <a:gdLst/>
              <a:ahLst/>
              <a:cxnLst/>
              <a:rect l="l" t="t" r="r" b="b"/>
              <a:pathLst>
                <a:path w="4673724" h="1816946">
                  <a:moveTo>
                    <a:pt x="10907" y="0"/>
                  </a:moveTo>
                  <a:lnTo>
                    <a:pt x="4662817" y="0"/>
                  </a:lnTo>
                  <a:cubicBezTo>
                    <a:pt x="4665709" y="0"/>
                    <a:pt x="4668484" y="1149"/>
                    <a:pt x="4670529" y="3195"/>
                  </a:cubicBezTo>
                  <a:cubicBezTo>
                    <a:pt x="4672574" y="5240"/>
                    <a:pt x="4673724" y="8014"/>
                    <a:pt x="4673724" y="10907"/>
                  </a:cubicBezTo>
                  <a:lnTo>
                    <a:pt x="4673724" y="1806039"/>
                  </a:lnTo>
                  <a:cubicBezTo>
                    <a:pt x="4673724" y="1812063"/>
                    <a:pt x="4668841" y="1816946"/>
                    <a:pt x="4662817" y="1816946"/>
                  </a:cubicBezTo>
                  <a:lnTo>
                    <a:pt x="10907" y="1816946"/>
                  </a:lnTo>
                  <a:cubicBezTo>
                    <a:pt x="8014" y="1816946"/>
                    <a:pt x="5240" y="1815797"/>
                    <a:pt x="3195" y="1813751"/>
                  </a:cubicBezTo>
                  <a:cubicBezTo>
                    <a:pt x="1149" y="1811706"/>
                    <a:pt x="0" y="1808932"/>
                    <a:pt x="0" y="1806039"/>
                  </a:cubicBezTo>
                  <a:lnTo>
                    <a:pt x="0" y="10907"/>
                  </a:lnTo>
                  <a:cubicBezTo>
                    <a:pt x="0" y="4883"/>
                    <a:pt x="4883" y="0"/>
                    <a:pt x="10907" y="0"/>
                  </a:cubicBezTo>
                  <a:close/>
                </a:path>
              </a:pathLst>
            </a:custGeom>
            <a:solidFill>
              <a:srgbClr val="4B3C3D"/>
            </a:solidFill>
          </p:spPr>
        </p:sp>
        <p:sp>
          <p:nvSpPr>
            <p:cNvPr id="9" name="TextBox 9"/>
            <p:cNvSpPr txBox="1"/>
            <p:nvPr/>
          </p:nvSpPr>
          <p:spPr>
            <a:xfrm>
              <a:off x="0" y="-28575"/>
              <a:ext cx="4673724" cy="1845521"/>
            </a:xfrm>
            <a:prstGeom prst="rect">
              <a:avLst/>
            </a:prstGeom>
          </p:spPr>
          <p:txBody>
            <a:bodyPr lIns="50800" tIns="50800" rIns="50800" bIns="50800" rtlCol="0" anchor="ctr"/>
            <a:lstStyle/>
            <a:p>
              <a:pPr algn="ctr">
                <a:lnSpc>
                  <a:spcPts val="1960"/>
                </a:lnSpc>
              </a:pPr>
              <a:endParaRPr/>
            </a:p>
          </p:txBody>
        </p:sp>
      </p:grpSp>
      <p:sp>
        <p:nvSpPr>
          <p:cNvPr id="10" name="TextBox 10"/>
          <p:cNvSpPr txBox="1"/>
          <p:nvPr/>
        </p:nvSpPr>
        <p:spPr>
          <a:xfrm>
            <a:off x="454056" y="3319017"/>
            <a:ext cx="17833944" cy="6706871"/>
          </a:xfrm>
          <a:prstGeom prst="rect">
            <a:avLst/>
          </a:prstGeom>
        </p:spPr>
        <p:txBody>
          <a:bodyPr lIns="0" tIns="0" rIns="0" bIns="0" rtlCol="0" anchor="t">
            <a:spAutoFit/>
          </a:bodyPr>
          <a:lstStyle/>
          <a:p>
            <a:pPr marL="539746" lvl="1" indent="-269873" algn="l">
              <a:lnSpc>
                <a:spcPts val="3499"/>
              </a:lnSpc>
              <a:buFont typeface="Arial"/>
              <a:buChar char="•"/>
            </a:pPr>
            <a:r>
              <a:rPr lang="en-US" sz="2499" b="1" spc="-124">
                <a:solidFill>
                  <a:srgbClr val="FFFFFF"/>
                </a:solidFill>
                <a:latin typeface="Open Sauce Bold"/>
                <a:ea typeface="Open Sauce Bold"/>
                <a:cs typeface="Open Sauce Bold"/>
                <a:sym typeface="Open Sauce Bold"/>
              </a:rPr>
              <a:t>Qatar și Niger</a:t>
            </a:r>
            <a:r>
              <a:rPr lang="en-US" sz="2499" spc="-124">
                <a:solidFill>
                  <a:srgbClr val="FFFFFF"/>
                </a:solidFill>
                <a:latin typeface="Open Sauce"/>
                <a:ea typeface="Open Sauce"/>
                <a:cs typeface="Open Sauce"/>
                <a:sym typeface="Open Sauce"/>
              </a:rPr>
              <a:t> au rămas, pe tot parcursul celor 30 de ani, printre cele mai poluate țări.</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b="1" spc="-124">
                <a:solidFill>
                  <a:srgbClr val="FFFFFF"/>
                </a:solidFill>
                <a:latin typeface="Open Sauce Bold"/>
                <a:ea typeface="Open Sauce Bold"/>
                <a:cs typeface="Open Sauce Bold"/>
                <a:sym typeface="Open Sauce Bold"/>
              </a:rPr>
              <a:t>Țările scandinave, America de Nord, Australia</a:t>
            </a:r>
            <a:r>
              <a:rPr lang="en-US" sz="2499" spc="-124">
                <a:solidFill>
                  <a:srgbClr val="FFFFFF"/>
                </a:solidFill>
                <a:latin typeface="Open Sauce"/>
                <a:ea typeface="Open Sauce"/>
                <a:cs typeface="Open Sauce"/>
                <a:sym typeface="Open Sauce"/>
              </a:rPr>
              <a:t> și o parte din </a:t>
            </a:r>
            <a:r>
              <a:rPr lang="en-US" sz="2499" b="1" spc="-124">
                <a:solidFill>
                  <a:srgbClr val="FFFFFF"/>
                </a:solidFill>
                <a:latin typeface="Open Sauce Bold"/>
                <a:ea typeface="Open Sauce Bold"/>
                <a:cs typeface="Open Sauce Bold"/>
                <a:sym typeface="Open Sauce Bold"/>
              </a:rPr>
              <a:t>America Latină</a:t>
            </a:r>
            <a:r>
              <a:rPr lang="en-US" sz="2499" spc="-124">
                <a:solidFill>
                  <a:srgbClr val="FFFFFF"/>
                </a:solidFill>
                <a:latin typeface="Open Sauce"/>
                <a:ea typeface="Open Sauce"/>
                <a:cs typeface="Open Sauce"/>
                <a:sym typeface="Open Sauce"/>
              </a:rPr>
              <a:t> au menținut niveluri scăzute de poluare.</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spc="-124">
                <a:solidFill>
                  <a:srgbClr val="FFFFFF"/>
                </a:solidFill>
                <a:latin typeface="Open Sauce"/>
                <a:ea typeface="Open Sauce"/>
                <a:cs typeface="Open Sauce"/>
                <a:sym typeface="Open Sauce"/>
              </a:rPr>
              <a:t>Mai multe țări europene au redus poluarea de la niveluri ridicate la niveluri scăzute.</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b="1" spc="-124">
                <a:solidFill>
                  <a:srgbClr val="FFFFFF"/>
                </a:solidFill>
                <a:latin typeface="Open Sauce Bold"/>
                <a:ea typeface="Open Sauce Bold"/>
                <a:cs typeface="Open Sauce Bold"/>
                <a:sym typeface="Open Sauce Bold"/>
              </a:rPr>
              <a:t>Peru și Bolivia</a:t>
            </a:r>
            <a:r>
              <a:rPr lang="en-US" sz="2499" spc="-124">
                <a:solidFill>
                  <a:srgbClr val="FFFFFF"/>
                </a:solidFill>
                <a:latin typeface="Open Sauce"/>
                <a:ea typeface="Open Sauce"/>
                <a:cs typeface="Open Sauce"/>
                <a:sym typeface="Open Sauce"/>
              </a:rPr>
              <a:t> au scăzut concentrația medie de PM2.5 de la ~80 µg/m³ la ~22 µg/m³.</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spc="-124">
                <a:solidFill>
                  <a:srgbClr val="FFFFFF"/>
                </a:solidFill>
                <a:latin typeface="Open Sauce"/>
                <a:ea typeface="Open Sauce"/>
                <a:cs typeface="Open Sauce"/>
                <a:sym typeface="Open Sauce"/>
              </a:rPr>
              <a:t>În </a:t>
            </a:r>
            <a:r>
              <a:rPr lang="en-US" sz="2499" b="1" spc="-124">
                <a:solidFill>
                  <a:srgbClr val="FFFFFF"/>
                </a:solidFill>
                <a:latin typeface="Open Sauce Bold"/>
                <a:ea typeface="Open Sauce Bold"/>
                <a:cs typeface="Open Sauce Bold"/>
                <a:sym typeface="Open Sauce Bold"/>
              </a:rPr>
              <a:t>Asia</a:t>
            </a:r>
            <a:r>
              <a:rPr lang="en-US" sz="2499" spc="-124">
                <a:solidFill>
                  <a:srgbClr val="FFFFFF"/>
                </a:solidFill>
                <a:latin typeface="Open Sauce"/>
                <a:ea typeface="Open Sauce"/>
                <a:cs typeface="Open Sauce"/>
                <a:sym typeface="Open Sauce"/>
              </a:rPr>
              <a:t>, majoritatea țărilor au înregistrat o scădere a poluării până în 2010, apoi o creștere bruscă până în 2016, urmată de un trend descrescător ulterior.</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spc="-124">
                <a:solidFill>
                  <a:srgbClr val="FFFFFF"/>
                </a:solidFill>
                <a:latin typeface="Open Sauce"/>
                <a:ea typeface="Open Sauce"/>
                <a:cs typeface="Open Sauce"/>
                <a:sym typeface="Open Sauce"/>
              </a:rPr>
              <a:t>Majoritatea țărilor din </a:t>
            </a:r>
            <a:r>
              <a:rPr lang="en-US" sz="2499" b="1" spc="-124">
                <a:solidFill>
                  <a:srgbClr val="FFFFFF"/>
                </a:solidFill>
                <a:latin typeface="Open Sauce Bold"/>
                <a:ea typeface="Open Sauce Bold"/>
                <a:cs typeface="Open Sauce Bold"/>
                <a:sym typeface="Open Sauce Bold"/>
              </a:rPr>
              <a:t>Africa și Asia de Sud și Centrală</a:t>
            </a:r>
            <a:r>
              <a:rPr lang="en-US" sz="2499" spc="-124">
                <a:solidFill>
                  <a:srgbClr val="FFFFFF"/>
                </a:solidFill>
                <a:latin typeface="Open Sauce"/>
                <a:ea typeface="Open Sauce"/>
                <a:cs typeface="Open Sauce"/>
                <a:sym typeface="Open Sauce"/>
              </a:rPr>
              <a:t> au avut niveluri constante sau au înregistrat creșteri ale poluării.</a:t>
            </a:r>
          </a:p>
          <a:p>
            <a:pPr algn="l">
              <a:lnSpc>
                <a:spcPts val="3499"/>
              </a:lnSpc>
            </a:pPr>
            <a:endParaRPr lang="en-US" sz="2499" spc="-124">
              <a:solidFill>
                <a:srgbClr val="FFFFFF"/>
              </a:solidFill>
              <a:latin typeface="Open Sauce"/>
              <a:ea typeface="Open Sauce"/>
              <a:cs typeface="Open Sauce"/>
              <a:sym typeface="Open Sauce"/>
            </a:endParaRPr>
          </a:p>
          <a:p>
            <a:pPr marL="539746" lvl="1" indent="-269873" algn="l">
              <a:lnSpc>
                <a:spcPts val="3499"/>
              </a:lnSpc>
              <a:buFont typeface="Arial"/>
              <a:buChar char="•"/>
            </a:pPr>
            <a:r>
              <a:rPr lang="en-US" sz="2499" spc="-124">
                <a:solidFill>
                  <a:srgbClr val="FFFFFF"/>
                </a:solidFill>
                <a:latin typeface="Open Sauce"/>
                <a:ea typeface="Open Sauce"/>
                <a:cs typeface="Open Sauce"/>
                <a:sym typeface="Open Sauce"/>
              </a:rPr>
              <a:t>În general, majoritatea lumii poluează</a:t>
            </a:r>
            <a:r>
              <a:rPr lang="en-US" sz="2499" b="1" spc="-124">
                <a:solidFill>
                  <a:srgbClr val="FFFFFF"/>
                </a:solidFill>
                <a:latin typeface="Open Sauce Bold"/>
                <a:ea typeface="Open Sauce Bold"/>
                <a:cs typeface="Open Sauce Bold"/>
                <a:sym typeface="Open Sauce Bold"/>
              </a:rPr>
              <a:t> mai puțin decât acum 30 de ani.</a:t>
            </a:r>
          </a:p>
          <a:p>
            <a:pPr algn="l">
              <a:lnSpc>
                <a:spcPts val="4759"/>
              </a:lnSpc>
              <a:spcBef>
                <a:spcPct val="0"/>
              </a:spcBef>
            </a:pPr>
            <a:endParaRPr lang="en-US" sz="2499" b="1" spc="-124">
              <a:solidFill>
                <a:srgbClr val="FFFFFF"/>
              </a:solidFill>
              <a:latin typeface="Open Sauce Bold"/>
              <a:ea typeface="Open Sauce Bold"/>
              <a:cs typeface="Open Sauce Bold"/>
              <a:sym typeface="Open Sauce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D2D2"/>
        </a:solidFill>
        <a:effectLst/>
      </p:bgPr>
    </p:bg>
    <p:spTree>
      <p:nvGrpSpPr>
        <p:cNvPr id="1" name=""/>
        <p:cNvGrpSpPr/>
        <p:nvPr/>
      </p:nvGrpSpPr>
      <p:grpSpPr>
        <a:xfrm>
          <a:off x="0" y="0"/>
          <a:ext cx="0" cy="0"/>
          <a:chOff x="0" y="0"/>
          <a:chExt cx="0" cy="0"/>
        </a:xfrm>
      </p:grpSpPr>
      <p:grpSp>
        <p:nvGrpSpPr>
          <p:cNvPr id="2" name="Group 2"/>
          <p:cNvGrpSpPr/>
          <p:nvPr/>
        </p:nvGrpSpPr>
        <p:grpSpPr>
          <a:xfrm>
            <a:off x="5106509" y="5319019"/>
            <a:ext cx="5494441" cy="3841772"/>
            <a:chOff x="0" y="0"/>
            <a:chExt cx="965897" cy="675366"/>
          </a:xfrm>
        </p:grpSpPr>
        <p:sp>
          <p:nvSpPr>
            <p:cNvPr id="3" name="Freeform 3"/>
            <p:cNvSpPr/>
            <p:nvPr/>
          </p:nvSpPr>
          <p:spPr>
            <a:xfrm>
              <a:off x="0" y="0"/>
              <a:ext cx="965897" cy="675366"/>
            </a:xfrm>
            <a:custGeom>
              <a:avLst/>
              <a:gdLst/>
              <a:ahLst/>
              <a:cxnLst/>
              <a:rect l="l" t="t" r="r" b="b"/>
              <a:pathLst>
                <a:path w="965897" h="675366">
                  <a:moveTo>
                    <a:pt x="28181" y="0"/>
                  </a:moveTo>
                  <a:lnTo>
                    <a:pt x="937716" y="0"/>
                  </a:lnTo>
                  <a:cubicBezTo>
                    <a:pt x="953280" y="0"/>
                    <a:pt x="965897" y="12617"/>
                    <a:pt x="965897" y="28181"/>
                  </a:cubicBezTo>
                  <a:lnTo>
                    <a:pt x="965897" y="647185"/>
                  </a:lnTo>
                  <a:cubicBezTo>
                    <a:pt x="965897" y="654659"/>
                    <a:pt x="962928" y="661827"/>
                    <a:pt x="957643" y="667112"/>
                  </a:cubicBezTo>
                  <a:cubicBezTo>
                    <a:pt x="952358" y="672397"/>
                    <a:pt x="945190" y="675366"/>
                    <a:pt x="937716" y="675366"/>
                  </a:cubicBezTo>
                  <a:lnTo>
                    <a:pt x="28181" y="675366"/>
                  </a:lnTo>
                  <a:cubicBezTo>
                    <a:pt x="12617" y="675366"/>
                    <a:pt x="0" y="662749"/>
                    <a:pt x="0" y="647185"/>
                  </a:cubicBezTo>
                  <a:lnTo>
                    <a:pt x="0" y="28181"/>
                  </a:lnTo>
                  <a:cubicBezTo>
                    <a:pt x="0" y="20707"/>
                    <a:pt x="2969" y="13539"/>
                    <a:pt x="8254" y="8254"/>
                  </a:cubicBezTo>
                  <a:cubicBezTo>
                    <a:pt x="13539" y="2969"/>
                    <a:pt x="20707" y="0"/>
                    <a:pt x="28181" y="0"/>
                  </a:cubicBezTo>
                  <a:close/>
                </a:path>
              </a:pathLst>
            </a:custGeom>
            <a:blipFill>
              <a:blip r:embed="rId2"/>
              <a:stretch>
                <a:fillRect t="-21509" b="-21509"/>
              </a:stretch>
            </a:blipFill>
          </p:spPr>
        </p:sp>
      </p:grpSp>
      <p:sp>
        <p:nvSpPr>
          <p:cNvPr id="4" name="TextBox 4"/>
          <p:cNvSpPr txBox="1"/>
          <p:nvPr/>
        </p:nvSpPr>
        <p:spPr>
          <a:xfrm>
            <a:off x="4084622" y="1552916"/>
            <a:ext cx="10118757" cy="2714625"/>
          </a:xfrm>
          <a:prstGeom prst="rect">
            <a:avLst/>
          </a:prstGeom>
        </p:spPr>
        <p:txBody>
          <a:bodyPr lIns="0" tIns="0" rIns="0" bIns="0" rtlCol="0" anchor="t">
            <a:spAutoFit/>
          </a:bodyPr>
          <a:lstStyle/>
          <a:p>
            <a:pPr algn="ctr">
              <a:lnSpc>
                <a:spcPts val="21409"/>
              </a:lnSpc>
            </a:pPr>
            <a:r>
              <a:rPr lang="en-US" sz="17841" u="sng" spc="-1427">
                <a:solidFill>
                  <a:srgbClr val="4B3C3D"/>
                </a:solidFill>
                <a:latin typeface="Open Sauce"/>
                <a:ea typeface="Open Sauce"/>
                <a:cs typeface="Open Sauce"/>
                <a:sym typeface="Open Sauce"/>
              </a:rPr>
              <a:t>Mulţumim !</a:t>
            </a:r>
          </a:p>
        </p:txBody>
      </p:sp>
      <p:grpSp>
        <p:nvGrpSpPr>
          <p:cNvPr id="5" name="Group 5"/>
          <p:cNvGrpSpPr/>
          <p:nvPr/>
        </p:nvGrpSpPr>
        <p:grpSpPr>
          <a:xfrm>
            <a:off x="11737845" y="5221511"/>
            <a:ext cx="5633896" cy="3939281"/>
            <a:chOff x="0" y="0"/>
            <a:chExt cx="965897" cy="675366"/>
          </a:xfrm>
        </p:grpSpPr>
        <p:sp>
          <p:nvSpPr>
            <p:cNvPr id="6" name="Freeform 6"/>
            <p:cNvSpPr/>
            <p:nvPr/>
          </p:nvSpPr>
          <p:spPr>
            <a:xfrm>
              <a:off x="0" y="0"/>
              <a:ext cx="965897" cy="675366"/>
            </a:xfrm>
            <a:custGeom>
              <a:avLst/>
              <a:gdLst/>
              <a:ahLst/>
              <a:cxnLst/>
              <a:rect l="l" t="t" r="r" b="b"/>
              <a:pathLst>
                <a:path w="965897" h="675366">
                  <a:moveTo>
                    <a:pt x="27483" y="0"/>
                  </a:moveTo>
                  <a:lnTo>
                    <a:pt x="938414" y="0"/>
                  </a:lnTo>
                  <a:cubicBezTo>
                    <a:pt x="953592" y="0"/>
                    <a:pt x="965897" y="12305"/>
                    <a:pt x="965897" y="27483"/>
                  </a:cubicBezTo>
                  <a:lnTo>
                    <a:pt x="965897" y="647882"/>
                  </a:lnTo>
                  <a:cubicBezTo>
                    <a:pt x="965897" y="663061"/>
                    <a:pt x="953592" y="675366"/>
                    <a:pt x="938414" y="675366"/>
                  </a:cubicBezTo>
                  <a:lnTo>
                    <a:pt x="27483" y="675366"/>
                  </a:lnTo>
                  <a:cubicBezTo>
                    <a:pt x="12305" y="675366"/>
                    <a:pt x="0" y="663061"/>
                    <a:pt x="0" y="647882"/>
                  </a:cubicBezTo>
                  <a:lnTo>
                    <a:pt x="0" y="27483"/>
                  </a:lnTo>
                  <a:cubicBezTo>
                    <a:pt x="0" y="12305"/>
                    <a:pt x="12305" y="0"/>
                    <a:pt x="27483" y="0"/>
                  </a:cubicBezTo>
                  <a:close/>
                </a:path>
              </a:pathLst>
            </a:custGeom>
            <a:blipFill>
              <a:blip r:embed="rId3"/>
              <a:stretch>
                <a:fillRect l="-2473" r="-2473"/>
              </a:stretch>
            </a:blipFill>
          </p:spPr>
        </p:sp>
      </p:grpSp>
      <p:grpSp>
        <p:nvGrpSpPr>
          <p:cNvPr id="7" name="Group 7"/>
          <p:cNvGrpSpPr/>
          <p:nvPr/>
        </p:nvGrpSpPr>
        <p:grpSpPr>
          <a:xfrm>
            <a:off x="1417372" y="4915166"/>
            <a:ext cx="2416957" cy="4551971"/>
            <a:chOff x="0" y="0"/>
            <a:chExt cx="435955" cy="821054"/>
          </a:xfrm>
        </p:grpSpPr>
        <p:sp>
          <p:nvSpPr>
            <p:cNvPr id="8" name="Freeform 8"/>
            <p:cNvSpPr/>
            <p:nvPr/>
          </p:nvSpPr>
          <p:spPr>
            <a:xfrm>
              <a:off x="0" y="0"/>
              <a:ext cx="435955" cy="821054"/>
            </a:xfrm>
            <a:custGeom>
              <a:avLst/>
              <a:gdLst/>
              <a:ahLst/>
              <a:cxnLst/>
              <a:rect l="l" t="t" r="r" b="b"/>
              <a:pathLst>
                <a:path w="435955" h="821054">
                  <a:moveTo>
                    <a:pt x="64063" y="0"/>
                  </a:moveTo>
                  <a:lnTo>
                    <a:pt x="371891" y="0"/>
                  </a:lnTo>
                  <a:cubicBezTo>
                    <a:pt x="407273" y="0"/>
                    <a:pt x="435955" y="28682"/>
                    <a:pt x="435955" y="64063"/>
                  </a:cubicBezTo>
                  <a:lnTo>
                    <a:pt x="435955" y="756991"/>
                  </a:lnTo>
                  <a:cubicBezTo>
                    <a:pt x="435955" y="792372"/>
                    <a:pt x="407273" y="821054"/>
                    <a:pt x="371891" y="821054"/>
                  </a:cubicBezTo>
                  <a:lnTo>
                    <a:pt x="64063" y="821054"/>
                  </a:lnTo>
                  <a:cubicBezTo>
                    <a:pt x="28682" y="821054"/>
                    <a:pt x="0" y="792372"/>
                    <a:pt x="0" y="756991"/>
                  </a:cubicBezTo>
                  <a:lnTo>
                    <a:pt x="0" y="64063"/>
                  </a:lnTo>
                  <a:cubicBezTo>
                    <a:pt x="0" y="28682"/>
                    <a:pt x="28682" y="0"/>
                    <a:pt x="64063" y="0"/>
                  </a:cubicBezTo>
                  <a:close/>
                </a:path>
              </a:pathLst>
            </a:custGeom>
            <a:blipFill>
              <a:blip r:embed="rId4"/>
              <a:stretch>
                <a:fillRect l="-4042" r="-215169"/>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651</Words>
  <Application>Microsoft Office PowerPoint</Application>
  <PresentationFormat>Custom</PresentationFormat>
  <Paragraphs>82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Arial</vt:lpstr>
      <vt:lpstr>Open Sauce</vt:lpstr>
      <vt:lpstr>Open Sauce Italics</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Evoluția poluării aerului (PM2.5) la nivel global în perioada 1990–2020</dc:title>
  <dc:creator>Miruna Erhan</dc:creator>
  <cp:lastModifiedBy>Miruna Erhan</cp:lastModifiedBy>
  <cp:revision>2</cp:revision>
  <dcterms:created xsi:type="dcterms:W3CDTF">2006-08-16T00:00:00Z</dcterms:created>
  <dcterms:modified xsi:type="dcterms:W3CDTF">2026-01-13T12:38:33Z</dcterms:modified>
  <dc:identifier>DAG-I78r_Rw</dc:identifier>
</cp:coreProperties>
</file>